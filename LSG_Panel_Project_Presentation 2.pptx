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49"/>
  </p:notesMasterIdLst>
  <p:handoutMasterIdLst>
    <p:handoutMasterId r:id="rId50"/>
  </p:handoutMasterIdLst>
  <p:sldIdLst>
    <p:sldId id="256" r:id="rId2"/>
    <p:sldId id="315" r:id="rId3"/>
    <p:sldId id="311" r:id="rId4"/>
    <p:sldId id="276" r:id="rId5"/>
    <p:sldId id="293" r:id="rId6"/>
    <p:sldId id="294" r:id="rId7"/>
    <p:sldId id="277" r:id="rId8"/>
    <p:sldId id="297" r:id="rId9"/>
    <p:sldId id="298" r:id="rId10"/>
    <p:sldId id="299" r:id="rId11"/>
    <p:sldId id="316" r:id="rId12"/>
    <p:sldId id="318" r:id="rId13"/>
    <p:sldId id="319" r:id="rId14"/>
    <p:sldId id="320" r:id="rId15"/>
    <p:sldId id="321" r:id="rId16"/>
    <p:sldId id="322" r:id="rId17"/>
    <p:sldId id="324" r:id="rId18"/>
    <p:sldId id="323" r:id="rId19"/>
    <p:sldId id="325" r:id="rId20"/>
    <p:sldId id="327" r:id="rId21"/>
    <p:sldId id="326" r:id="rId22"/>
    <p:sldId id="328" r:id="rId23"/>
    <p:sldId id="329" r:id="rId24"/>
    <p:sldId id="330" r:id="rId25"/>
    <p:sldId id="332" r:id="rId26"/>
    <p:sldId id="331" r:id="rId27"/>
    <p:sldId id="333" r:id="rId28"/>
    <p:sldId id="334" r:id="rId29"/>
    <p:sldId id="335" r:id="rId30"/>
    <p:sldId id="300" r:id="rId31"/>
    <p:sldId id="301" r:id="rId32"/>
    <p:sldId id="302" r:id="rId33"/>
    <p:sldId id="303" r:id="rId34"/>
    <p:sldId id="304" r:id="rId35"/>
    <p:sldId id="265" r:id="rId36"/>
    <p:sldId id="305" r:id="rId37"/>
    <p:sldId id="306" r:id="rId38"/>
    <p:sldId id="307" r:id="rId39"/>
    <p:sldId id="308" r:id="rId40"/>
    <p:sldId id="309" r:id="rId41"/>
    <p:sldId id="310" r:id="rId42"/>
    <p:sldId id="312" r:id="rId43"/>
    <p:sldId id="338" r:id="rId44"/>
    <p:sldId id="313" r:id="rId45"/>
    <p:sldId id="314" r:id="rId46"/>
    <p:sldId id="317" r:id="rId47"/>
    <p:sldId id="285"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60C657-8E1C-4575-A018-89DB58B84071}" v="164" dt="2025-10-28T12:16:17.67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52" autoAdjust="0"/>
  </p:normalViewPr>
  <p:slideViewPr>
    <p:cSldViewPr snapToGrid="0" showGuides="1">
      <p:cViewPr varScale="1">
        <p:scale>
          <a:sx n="74" d="100"/>
          <a:sy n="74" d="100"/>
        </p:scale>
        <p:origin x="504" y="56"/>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10/29/2025</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10/29/2025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33811-1261-A1EC-B031-FE450BB97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99803-76E8-5F13-066F-DF328735F9B8}"/>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E7BBCD2-2A04-F5E3-93C1-E30D630CB0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CFC635-B03C-4057-86F1-591E97A35B6E}"/>
              </a:ext>
            </a:extLst>
          </p:cNvPr>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1976923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685F6-1872-9AD8-2508-AE02DD375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E292E-81FE-5DD6-791E-26412FDF4205}"/>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42030890-7661-3687-A4E0-AB8535D6D4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BAC882-1E68-4077-CE20-43D455785615}"/>
              </a:ext>
            </a:extLst>
          </p:cNvPr>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352608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F9BDF-5786-CD23-7517-28900F2E7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0B3B0-EC5C-5BB0-E9CA-16B665370821}"/>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9E8485BA-357D-959A-1847-A362DCAF2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420DC8-60D3-04D4-66D9-50482B7AF0E5}"/>
              </a:ext>
            </a:extLst>
          </p:cNvPr>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622299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03DCC-4CB1-DC97-FBDD-C4CBEE809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0F45F8-2491-F6A4-5C48-D977F0CFD03A}"/>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C056B557-4B06-2A67-8E29-D85E231085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BF849A-C908-5D03-7A73-29BDB368D0AB}"/>
              </a:ext>
            </a:extLst>
          </p:cNvPr>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3915406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6F708-C028-5E53-24BD-17CECC1F0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1509B-AFFC-613C-6B4A-A5474A5FEF02}"/>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49A87E56-42B7-E927-C009-F989B14DB3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24A873-6C70-0B20-4C43-85FB4267F7EA}"/>
              </a:ext>
            </a:extLst>
          </p:cNvPr>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314533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F52E2-4A7A-6376-699B-5F4AE04DB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9EBB3-4184-C270-026D-48C25E09C820}"/>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CF9022A9-BC80-84B8-744C-A7D28F824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A1CEC8-ED21-D5DF-15E0-0A6B6DE51AED}"/>
              </a:ext>
            </a:extLst>
          </p:cNvPr>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1677497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95F74-ED57-A853-0BDE-E7963E0C0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D1AF2-5712-F317-F731-C00500142D89}"/>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715EB63-ED27-6DB3-D7D3-6D278BDA59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4309C8-8773-02DE-3C3A-55D09574B725}"/>
              </a:ext>
            </a:extLst>
          </p:cNvPr>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748247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4A446-B1A8-5F22-1464-A9666864C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B8F36-99C7-4306-112E-AF3DBC3A9CC5}"/>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5E6240D1-53A7-914B-A7DE-491EE484F6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0C3F1-7533-E93B-943A-6A1251BFBD84}"/>
              </a:ext>
            </a:extLst>
          </p:cNvPr>
          <p:cNvSpPr>
            <a:spLocks noGrp="1"/>
          </p:cNvSpPr>
          <p:nvPr>
            <p:ph type="sldNum" sz="quarter" idx="5"/>
          </p:nvPr>
        </p:nvSpPr>
        <p:spPr/>
        <p:txBody>
          <a:bodyPr/>
          <a:lstStyle/>
          <a:p>
            <a:fld id="{BE60DC36-8EFA-4378-9855-E019C55AC472}" type="slidenum">
              <a:rPr lang="en-US" smtClean="0"/>
              <a:t>11</a:t>
            </a:fld>
            <a:endParaRPr lang="en-US" dirty="0"/>
          </a:p>
        </p:txBody>
      </p:sp>
    </p:spTree>
    <p:extLst>
      <p:ext uri="{BB962C8B-B14F-4D97-AF65-F5344CB8AC3E}">
        <p14:creationId xmlns:p14="http://schemas.microsoft.com/office/powerpoint/2010/main" val="597511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1AA83-53DD-0266-7206-44E4849636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97402-DF36-9D7E-3466-44C9348DE394}"/>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4E5D1706-4332-7951-C9DF-3A0424E30C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3DE424-8AB1-7D4B-3C02-9E27CA385E50}"/>
              </a:ext>
            </a:extLst>
          </p:cNvPr>
          <p:cNvSpPr>
            <a:spLocks noGrp="1"/>
          </p:cNvSpPr>
          <p:nvPr>
            <p:ph type="sldNum" sz="quarter" idx="5"/>
          </p:nvPr>
        </p:nvSpPr>
        <p:spPr/>
        <p:txBody>
          <a:bodyPr/>
          <a:lstStyle/>
          <a:p>
            <a:fld id="{BE60DC36-8EFA-4378-9855-E019C55AC472}" type="slidenum">
              <a:rPr lang="en-US" smtClean="0"/>
              <a:t>12</a:t>
            </a:fld>
            <a:endParaRPr lang="en-US" dirty="0"/>
          </a:p>
        </p:txBody>
      </p:sp>
    </p:spTree>
    <p:extLst>
      <p:ext uri="{BB962C8B-B14F-4D97-AF65-F5344CB8AC3E}">
        <p14:creationId xmlns:p14="http://schemas.microsoft.com/office/powerpoint/2010/main" val="21137692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6B03C-9E2F-1DBE-94DF-FCEDA3D88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FB090-4C65-0793-BA92-39FDFE2CF296}"/>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C9A3303-641B-7258-7232-A9877EDE30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603844-7A77-9DF3-114F-E3A14946002A}"/>
              </a:ext>
            </a:extLst>
          </p:cNvPr>
          <p:cNvSpPr>
            <a:spLocks noGrp="1"/>
          </p:cNvSpPr>
          <p:nvPr>
            <p:ph type="sldNum" sz="quarter" idx="5"/>
          </p:nvPr>
        </p:nvSpPr>
        <p:spPr/>
        <p:txBody>
          <a:bodyPr/>
          <a:lstStyle/>
          <a:p>
            <a:fld id="{BE60DC36-8EFA-4378-9855-E019C55AC472}" type="slidenum">
              <a:rPr lang="en-US" smtClean="0"/>
              <a:t>13</a:t>
            </a:fld>
            <a:endParaRPr lang="en-US" dirty="0"/>
          </a:p>
        </p:txBody>
      </p:sp>
    </p:spTree>
    <p:extLst>
      <p:ext uri="{BB962C8B-B14F-4D97-AF65-F5344CB8AC3E}">
        <p14:creationId xmlns:p14="http://schemas.microsoft.com/office/powerpoint/2010/main" val="3234284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D0055-9877-30F4-2266-D2E86EE25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A94E0-A87D-AED8-CC12-9C853F8ADB4D}"/>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277CAED4-9671-0BF6-0152-B6B8EA4D31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80D57A-274A-B852-2E28-9C2DE44B40DB}"/>
              </a:ext>
            </a:extLst>
          </p:cNvPr>
          <p:cNvSpPr>
            <a:spLocks noGrp="1"/>
          </p:cNvSpPr>
          <p:nvPr>
            <p:ph type="sldNum" sz="quarter" idx="5"/>
          </p:nvPr>
        </p:nvSpPr>
        <p:spPr/>
        <p:txBody>
          <a:bodyPr/>
          <a:lstStyle/>
          <a:p>
            <a:fld id="{BE60DC36-8EFA-4378-9855-E019C55AC472}" type="slidenum">
              <a:rPr lang="en-US" smtClean="0"/>
              <a:t>14</a:t>
            </a:fld>
            <a:endParaRPr lang="en-US" dirty="0"/>
          </a:p>
        </p:txBody>
      </p:sp>
    </p:spTree>
    <p:extLst>
      <p:ext uri="{BB962C8B-B14F-4D97-AF65-F5344CB8AC3E}">
        <p14:creationId xmlns:p14="http://schemas.microsoft.com/office/powerpoint/2010/main" val="1613134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A9270-854A-4E50-C5C4-1BED4288D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00014-6A21-B5D4-188D-C67D1ADCC46A}"/>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25830DC8-9159-3502-963C-407F55DEAD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A10202-6343-1633-F5E8-A8B6474509D6}"/>
              </a:ext>
            </a:extLst>
          </p:cNvPr>
          <p:cNvSpPr>
            <a:spLocks noGrp="1"/>
          </p:cNvSpPr>
          <p:nvPr>
            <p:ph type="sldNum" sz="quarter" idx="5"/>
          </p:nvPr>
        </p:nvSpPr>
        <p:spPr/>
        <p:txBody>
          <a:bodyPr/>
          <a:lstStyle/>
          <a:p>
            <a:fld id="{BE60DC36-8EFA-4378-9855-E019C55AC472}" type="slidenum">
              <a:rPr lang="en-US" smtClean="0"/>
              <a:t>15</a:t>
            </a:fld>
            <a:endParaRPr lang="en-US" dirty="0"/>
          </a:p>
        </p:txBody>
      </p:sp>
    </p:spTree>
    <p:extLst>
      <p:ext uri="{BB962C8B-B14F-4D97-AF65-F5344CB8AC3E}">
        <p14:creationId xmlns:p14="http://schemas.microsoft.com/office/powerpoint/2010/main" val="10341864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BF3E9-7E9F-CCAB-ABC5-6E47303AE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0F1C6-0143-04CB-F83E-0B4AE469902D}"/>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3671B41F-8A48-BF39-8348-0FFAF9948D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0EB0C7-6296-2280-B285-5BB97831DA15}"/>
              </a:ext>
            </a:extLst>
          </p:cNvPr>
          <p:cNvSpPr>
            <a:spLocks noGrp="1"/>
          </p:cNvSpPr>
          <p:nvPr>
            <p:ph type="sldNum" sz="quarter" idx="5"/>
          </p:nvPr>
        </p:nvSpPr>
        <p:spPr/>
        <p:txBody>
          <a:bodyPr/>
          <a:lstStyle/>
          <a:p>
            <a:fld id="{BE60DC36-8EFA-4378-9855-E019C55AC472}" type="slidenum">
              <a:rPr lang="en-US" smtClean="0"/>
              <a:t>16</a:t>
            </a:fld>
            <a:endParaRPr lang="en-US" dirty="0"/>
          </a:p>
        </p:txBody>
      </p:sp>
    </p:spTree>
    <p:extLst>
      <p:ext uri="{BB962C8B-B14F-4D97-AF65-F5344CB8AC3E}">
        <p14:creationId xmlns:p14="http://schemas.microsoft.com/office/powerpoint/2010/main" val="7136083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60167-603A-F7EB-4AA3-740EE2197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83D2E-1879-AEF9-3FA4-2A7158AF3D8D}"/>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54DD397-2354-3636-C496-D7F67DB02E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173C6D-E0FE-FB9F-55E2-4E88F4654647}"/>
              </a:ext>
            </a:extLst>
          </p:cNvPr>
          <p:cNvSpPr>
            <a:spLocks noGrp="1"/>
          </p:cNvSpPr>
          <p:nvPr>
            <p:ph type="sldNum" sz="quarter" idx="5"/>
          </p:nvPr>
        </p:nvSpPr>
        <p:spPr/>
        <p:txBody>
          <a:bodyPr/>
          <a:lstStyle/>
          <a:p>
            <a:fld id="{BE60DC36-8EFA-4378-9855-E019C55AC472}" type="slidenum">
              <a:rPr lang="en-US" smtClean="0"/>
              <a:t>17</a:t>
            </a:fld>
            <a:endParaRPr lang="en-US" dirty="0"/>
          </a:p>
        </p:txBody>
      </p:sp>
    </p:spTree>
    <p:extLst>
      <p:ext uri="{BB962C8B-B14F-4D97-AF65-F5344CB8AC3E}">
        <p14:creationId xmlns:p14="http://schemas.microsoft.com/office/powerpoint/2010/main" val="31713544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5F253-8A3C-0C52-BC10-75D06F180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44550-929E-4214-CB97-8FE42E001A5D}"/>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872A99F-FB8E-564D-4840-A4B77A6BBA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DDCB2D-0884-4CC4-8F73-34B8D8CC54F3}"/>
              </a:ext>
            </a:extLst>
          </p:cNvPr>
          <p:cNvSpPr>
            <a:spLocks noGrp="1"/>
          </p:cNvSpPr>
          <p:nvPr>
            <p:ph type="sldNum" sz="quarter" idx="5"/>
          </p:nvPr>
        </p:nvSpPr>
        <p:spPr/>
        <p:txBody>
          <a:bodyPr/>
          <a:lstStyle/>
          <a:p>
            <a:fld id="{BE60DC36-8EFA-4378-9855-E019C55AC472}" type="slidenum">
              <a:rPr lang="en-US" smtClean="0"/>
              <a:t>18</a:t>
            </a:fld>
            <a:endParaRPr lang="en-US" dirty="0"/>
          </a:p>
        </p:txBody>
      </p:sp>
    </p:spTree>
    <p:extLst>
      <p:ext uri="{BB962C8B-B14F-4D97-AF65-F5344CB8AC3E}">
        <p14:creationId xmlns:p14="http://schemas.microsoft.com/office/powerpoint/2010/main" val="2785833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EE66C-63FF-6461-AA13-3766372B30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7BA9B-25BE-D542-64BC-E77A8FF7F6B1}"/>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275A605B-2A68-CF57-E462-BCFBA1ED42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1ABE41-FC10-7786-B612-B905615FEDEF}"/>
              </a:ext>
            </a:extLst>
          </p:cNvPr>
          <p:cNvSpPr>
            <a:spLocks noGrp="1"/>
          </p:cNvSpPr>
          <p:nvPr>
            <p:ph type="sldNum" sz="quarter" idx="5"/>
          </p:nvPr>
        </p:nvSpPr>
        <p:spPr/>
        <p:txBody>
          <a:bodyPr/>
          <a:lstStyle/>
          <a:p>
            <a:fld id="{BE60DC36-8EFA-4378-9855-E019C55AC472}" type="slidenum">
              <a:rPr lang="en-US" smtClean="0"/>
              <a:t>19</a:t>
            </a:fld>
            <a:endParaRPr lang="en-US" dirty="0"/>
          </a:p>
        </p:txBody>
      </p:sp>
    </p:spTree>
    <p:extLst>
      <p:ext uri="{BB962C8B-B14F-4D97-AF65-F5344CB8AC3E}">
        <p14:creationId xmlns:p14="http://schemas.microsoft.com/office/powerpoint/2010/main" val="984043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A1B01-3F00-5053-E2B9-076A078F2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E2C7C-6107-A3D8-544E-9DAF8A2155E4}"/>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55268C6-CBCD-C3A9-4A3D-193E2C3CC3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EE1CB0-D527-7B2C-F9B8-EA423A4B2674}"/>
              </a:ext>
            </a:extLst>
          </p:cNvPr>
          <p:cNvSpPr>
            <a:spLocks noGrp="1"/>
          </p:cNvSpPr>
          <p:nvPr>
            <p:ph type="sldNum" sz="quarter" idx="5"/>
          </p:nvPr>
        </p:nvSpPr>
        <p:spPr/>
        <p:txBody>
          <a:bodyPr/>
          <a:lstStyle/>
          <a:p>
            <a:fld id="{BE60DC36-8EFA-4378-9855-E019C55AC472}" type="slidenum">
              <a:rPr lang="en-US" smtClean="0"/>
              <a:t>20</a:t>
            </a:fld>
            <a:endParaRPr lang="en-US" dirty="0"/>
          </a:p>
        </p:txBody>
      </p:sp>
    </p:spTree>
    <p:extLst>
      <p:ext uri="{BB962C8B-B14F-4D97-AF65-F5344CB8AC3E}">
        <p14:creationId xmlns:p14="http://schemas.microsoft.com/office/powerpoint/2010/main" val="14178766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EE52A-A80A-CECE-B187-1FB0D763B5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0235C-D8C4-7EDD-093C-8B7ED7FCE288}"/>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A90D92C4-69DD-A180-B8F2-9464526920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02009C-7C35-4500-669B-24C9AD08DF83}"/>
              </a:ext>
            </a:extLst>
          </p:cNvPr>
          <p:cNvSpPr>
            <a:spLocks noGrp="1"/>
          </p:cNvSpPr>
          <p:nvPr>
            <p:ph type="sldNum" sz="quarter" idx="5"/>
          </p:nvPr>
        </p:nvSpPr>
        <p:spPr/>
        <p:txBody>
          <a:bodyPr/>
          <a:lstStyle/>
          <a:p>
            <a:fld id="{BE60DC36-8EFA-4378-9855-E019C55AC472}" type="slidenum">
              <a:rPr lang="en-US" smtClean="0"/>
              <a:t>21</a:t>
            </a:fld>
            <a:endParaRPr lang="en-US" dirty="0"/>
          </a:p>
        </p:txBody>
      </p:sp>
    </p:spTree>
    <p:extLst>
      <p:ext uri="{BB962C8B-B14F-4D97-AF65-F5344CB8AC3E}">
        <p14:creationId xmlns:p14="http://schemas.microsoft.com/office/powerpoint/2010/main" val="1205896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DA8DE-87DE-D6EF-E346-5A5325C738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5F0A7-922B-2B3B-4417-32766F9F412A}"/>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33F5F3F3-EEFC-1A8B-54E4-0F669E0499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6CA6B7-A1C2-C1FB-7531-AA457C3F544E}"/>
              </a:ext>
            </a:extLst>
          </p:cNvPr>
          <p:cNvSpPr>
            <a:spLocks noGrp="1"/>
          </p:cNvSpPr>
          <p:nvPr>
            <p:ph type="sldNum" sz="quarter" idx="5"/>
          </p:nvPr>
        </p:nvSpPr>
        <p:spPr/>
        <p:txBody>
          <a:bodyPr/>
          <a:lstStyle/>
          <a:p>
            <a:fld id="{BE60DC36-8EFA-4378-9855-E019C55AC472}" type="slidenum">
              <a:rPr lang="en-US" smtClean="0"/>
              <a:t>22</a:t>
            </a:fld>
            <a:endParaRPr lang="en-US" dirty="0"/>
          </a:p>
        </p:txBody>
      </p:sp>
    </p:spTree>
    <p:extLst>
      <p:ext uri="{BB962C8B-B14F-4D97-AF65-F5344CB8AC3E}">
        <p14:creationId xmlns:p14="http://schemas.microsoft.com/office/powerpoint/2010/main" val="28582358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AEAF5-B069-6E21-1CB0-26F8C793D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3F205-0F15-0B9F-548C-71D48031AAB2}"/>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C2EC6B6-FDA5-26B2-EC04-7784F49A22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29113A-C0D8-0D4F-877B-239B7AAA37FD}"/>
              </a:ext>
            </a:extLst>
          </p:cNvPr>
          <p:cNvSpPr>
            <a:spLocks noGrp="1"/>
          </p:cNvSpPr>
          <p:nvPr>
            <p:ph type="sldNum" sz="quarter" idx="5"/>
          </p:nvPr>
        </p:nvSpPr>
        <p:spPr/>
        <p:txBody>
          <a:bodyPr/>
          <a:lstStyle/>
          <a:p>
            <a:fld id="{BE60DC36-8EFA-4378-9855-E019C55AC472}" type="slidenum">
              <a:rPr lang="en-US" smtClean="0"/>
              <a:t>23</a:t>
            </a:fld>
            <a:endParaRPr lang="en-US" dirty="0"/>
          </a:p>
        </p:txBody>
      </p:sp>
    </p:spTree>
    <p:extLst>
      <p:ext uri="{BB962C8B-B14F-4D97-AF65-F5344CB8AC3E}">
        <p14:creationId xmlns:p14="http://schemas.microsoft.com/office/powerpoint/2010/main" val="236893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7360A-1AF0-2B97-357A-148C17590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9204B-E4D2-265A-D394-31566EBBE693}"/>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56375C1-6FAA-3439-E07D-19C6791165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48B095-4FD0-F3F2-E8B2-AFACD1758B20}"/>
              </a:ext>
            </a:extLst>
          </p:cNvPr>
          <p:cNvSpPr>
            <a:spLocks noGrp="1"/>
          </p:cNvSpPr>
          <p:nvPr>
            <p:ph type="sldNum" sz="quarter" idx="5"/>
          </p:nvPr>
        </p:nvSpPr>
        <p:spPr/>
        <p:txBody>
          <a:bodyPr/>
          <a:lstStyle/>
          <a:p>
            <a:fld id="{BE60DC36-8EFA-4378-9855-E019C55AC472}" type="slidenum">
              <a:rPr lang="en-US" smtClean="0"/>
              <a:t>24</a:t>
            </a:fld>
            <a:endParaRPr lang="en-US" dirty="0"/>
          </a:p>
        </p:txBody>
      </p:sp>
    </p:spTree>
    <p:extLst>
      <p:ext uri="{BB962C8B-B14F-4D97-AF65-F5344CB8AC3E}">
        <p14:creationId xmlns:p14="http://schemas.microsoft.com/office/powerpoint/2010/main" val="1372517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78B6F-F291-09A7-0566-67648276E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D8ECA-1A40-9762-D01A-F24389E0FE72}"/>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1B5B852-2D67-E15F-5286-8F3379AFA4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8A77AA-7378-864B-FC48-F1466500C0CB}"/>
              </a:ext>
            </a:extLst>
          </p:cNvPr>
          <p:cNvSpPr>
            <a:spLocks noGrp="1"/>
          </p:cNvSpPr>
          <p:nvPr>
            <p:ph type="sldNum" sz="quarter" idx="5"/>
          </p:nvPr>
        </p:nvSpPr>
        <p:spPr/>
        <p:txBody>
          <a:bodyPr/>
          <a:lstStyle/>
          <a:p>
            <a:fld id="{BE60DC36-8EFA-4378-9855-E019C55AC472}" type="slidenum">
              <a:rPr lang="en-US" smtClean="0"/>
              <a:t>25</a:t>
            </a:fld>
            <a:endParaRPr lang="en-US" dirty="0"/>
          </a:p>
        </p:txBody>
      </p:sp>
    </p:spTree>
    <p:extLst>
      <p:ext uri="{BB962C8B-B14F-4D97-AF65-F5344CB8AC3E}">
        <p14:creationId xmlns:p14="http://schemas.microsoft.com/office/powerpoint/2010/main" val="20478904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9C0C1-D54B-504F-7C41-5C7CF17AD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C6397-B77C-45E7-584C-317F7C47AE24}"/>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A5005EF-9DFD-FAD3-9717-53EC82479F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57DCD5-3608-ADE5-5E46-64E4B4B3F0C5}"/>
              </a:ext>
            </a:extLst>
          </p:cNvPr>
          <p:cNvSpPr>
            <a:spLocks noGrp="1"/>
          </p:cNvSpPr>
          <p:nvPr>
            <p:ph type="sldNum" sz="quarter" idx="5"/>
          </p:nvPr>
        </p:nvSpPr>
        <p:spPr/>
        <p:txBody>
          <a:bodyPr/>
          <a:lstStyle/>
          <a:p>
            <a:fld id="{BE60DC36-8EFA-4378-9855-E019C55AC472}" type="slidenum">
              <a:rPr lang="en-US" smtClean="0"/>
              <a:t>26</a:t>
            </a:fld>
            <a:endParaRPr lang="en-US" dirty="0"/>
          </a:p>
        </p:txBody>
      </p:sp>
    </p:spTree>
    <p:extLst>
      <p:ext uri="{BB962C8B-B14F-4D97-AF65-F5344CB8AC3E}">
        <p14:creationId xmlns:p14="http://schemas.microsoft.com/office/powerpoint/2010/main" val="10730977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03731-41DE-5C3A-85D7-EEB684DC3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B0432-7EFE-1956-AFEE-387C60847F4B}"/>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371FA803-FBC2-DA08-B34D-447DB8E736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A61F36-E5EA-D199-17FD-F3B68F1DFE7E}"/>
              </a:ext>
            </a:extLst>
          </p:cNvPr>
          <p:cNvSpPr>
            <a:spLocks noGrp="1"/>
          </p:cNvSpPr>
          <p:nvPr>
            <p:ph type="sldNum" sz="quarter" idx="5"/>
          </p:nvPr>
        </p:nvSpPr>
        <p:spPr/>
        <p:txBody>
          <a:bodyPr/>
          <a:lstStyle/>
          <a:p>
            <a:fld id="{BE60DC36-8EFA-4378-9855-E019C55AC472}" type="slidenum">
              <a:rPr lang="en-US" smtClean="0"/>
              <a:t>27</a:t>
            </a:fld>
            <a:endParaRPr lang="en-US" dirty="0"/>
          </a:p>
        </p:txBody>
      </p:sp>
    </p:spTree>
    <p:extLst>
      <p:ext uri="{BB962C8B-B14F-4D97-AF65-F5344CB8AC3E}">
        <p14:creationId xmlns:p14="http://schemas.microsoft.com/office/powerpoint/2010/main" val="15728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64CB4-9D02-003C-D763-9EA74098E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6CF90-1673-AF09-8CEE-4FB5174509D9}"/>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B01B3742-CAA8-F7F1-81F2-B99D714625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83A00C-0B32-857F-A45C-78069F8F17D7}"/>
              </a:ext>
            </a:extLst>
          </p:cNvPr>
          <p:cNvSpPr>
            <a:spLocks noGrp="1"/>
          </p:cNvSpPr>
          <p:nvPr>
            <p:ph type="sldNum" sz="quarter" idx="5"/>
          </p:nvPr>
        </p:nvSpPr>
        <p:spPr/>
        <p:txBody>
          <a:bodyPr/>
          <a:lstStyle/>
          <a:p>
            <a:fld id="{BE60DC36-8EFA-4378-9855-E019C55AC472}" type="slidenum">
              <a:rPr lang="en-US" smtClean="0"/>
              <a:t>28</a:t>
            </a:fld>
            <a:endParaRPr lang="en-US" dirty="0"/>
          </a:p>
        </p:txBody>
      </p:sp>
    </p:spTree>
    <p:extLst>
      <p:ext uri="{BB962C8B-B14F-4D97-AF65-F5344CB8AC3E}">
        <p14:creationId xmlns:p14="http://schemas.microsoft.com/office/powerpoint/2010/main" val="1564477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E15CD-46BB-BF4D-B5AF-67D2D735F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7EB85-0D1A-595C-ED79-4A5CD10227AD}"/>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A8691391-BCDB-54B1-6E56-018E1CAC52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B069F-163B-F15B-732E-3F4DC1EBC3C2}"/>
              </a:ext>
            </a:extLst>
          </p:cNvPr>
          <p:cNvSpPr>
            <a:spLocks noGrp="1"/>
          </p:cNvSpPr>
          <p:nvPr>
            <p:ph type="sldNum" sz="quarter" idx="5"/>
          </p:nvPr>
        </p:nvSpPr>
        <p:spPr/>
        <p:txBody>
          <a:bodyPr/>
          <a:lstStyle/>
          <a:p>
            <a:fld id="{BE60DC36-8EFA-4378-9855-E019C55AC472}" type="slidenum">
              <a:rPr lang="en-US" smtClean="0"/>
              <a:t>29</a:t>
            </a:fld>
            <a:endParaRPr lang="en-US" dirty="0"/>
          </a:p>
        </p:txBody>
      </p:sp>
    </p:spTree>
    <p:extLst>
      <p:ext uri="{BB962C8B-B14F-4D97-AF65-F5344CB8AC3E}">
        <p14:creationId xmlns:p14="http://schemas.microsoft.com/office/powerpoint/2010/main" val="40806124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E85D4-BF58-1425-C44F-AB194C8F1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74662-929E-93BE-BBAA-6DF52912BE41}"/>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99AEC74D-FA7E-8E14-2393-F5926E061D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360DB1-4814-3136-887A-FB648F34DF87}"/>
              </a:ext>
            </a:extLst>
          </p:cNvPr>
          <p:cNvSpPr>
            <a:spLocks noGrp="1"/>
          </p:cNvSpPr>
          <p:nvPr>
            <p:ph type="sldNum" sz="quarter" idx="5"/>
          </p:nvPr>
        </p:nvSpPr>
        <p:spPr/>
        <p:txBody>
          <a:bodyPr/>
          <a:lstStyle/>
          <a:p>
            <a:fld id="{BE60DC36-8EFA-4378-9855-E019C55AC472}" type="slidenum">
              <a:rPr lang="en-US" smtClean="0"/>
              <a:t>30</a:t>
            </a:fld>
            <a:endParaRPr lang="en-US" dirty="0"/>
          </a:p>
        </p:txBody>
      </p:sp>
    </p:spTree>
    <p:extLst>
      <p:ext uri="{BB962C8B-B14F-4D97-AF65-F5344CB8AC3E}">
        <p14:creationId xmlns:p14="http://schemas.microsoft.com/office/powerpoint/2010/main" val="10831296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7103C-57EF-23C7-EBA3-C90E0EF2D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82029-129B-E373-1D51-AE94609EEBC3}"/>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269CA42C-585C-CFDC-E6F3-FEE14ACC4E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D6915D-6BEA-1B87-B6B4-9008094B24DB}"/>
              </a:ext>
            </a:extLst>
          </p:cNvPr>
          <p:cNvSpPr>
            <a:spLocks noGrp="1"/>
          </p:cNvSpPr>
          <p:nvPr>
            <p:ph type="sldNum" sz="quarter" idx="5"/>
          </p:nvPr>
        </p:nvSpPr>
        <p:spPr/>
        <p:txBody>
          <a:bodyPr/>
          <a:lstStyle/>
          <a:p>
            <a:fld id="{BE60DC36-8EFA-4378-9855-E019C55AC472}" type="slidenum">
              <a:rPr lang="en-US" smtClean="0"/>
              <a:t>31</a:t>
            </a:fld>
            <a:endParaRPr lang="en-US" dirty="0"/>
          </a:p>
        </p:txBody>
      </p:sp>
    </p:spTree>
    <p:extLst>
      <p:ext uri="{BB962C8B-B14F-4D97-AF65-F5344CB8AC3E}">
        <p14:creationId xmlns:p14="http://schemas.microsoft.com/office/powerpoint/2010/main" val="27416289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A9FC-703D-8BA0-5516-9306C4566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5808F-22D8-0D8B-C58B-23B233E7AAE1}"/>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970A68A-BDE4-E195-4DE2-E2678B90B8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9C6413-DD6E-45D1-05FF-70A3DB4B27CA}"/>
              </a:ext>
            </a:extLst>
          </p:cNvPr>
          <p:cNvSpPr>
            <a:spLocks noGrp="1"/>
          </p:cNvSpPr>
          <p:nvPr>
            <p:ph type="sldNum" sz="quarter" idx="5"/>
          </p:nvPr>
        </p:nvSpPr>
        <p:spPr/>
        <p:txBody>
          <a:bodyPr/>
          <a:lstStyle/>
          <a:p>
            <a:fld id="{BE60DC36-8EFA-4378-9855-E019C55AC472}" type="slidenum">
              <a:rPr lang="en-US" smtClean="0"/>
              <a:t>32</a:t>
            </a:fld>
            <a:endParaRPr lang="en-US" dirty="0"/>
          </a:p>
        </p:txBody>
      </p:sp>
    </p:spTree>
    <p:extLst>
      <p:ext uri="{BB962C8B-B14F-4D97-AF65-F5344CB8AC3E}">
        <p14:creationId xmlns:p14="http://schemas.microsoft.com/office/powerpoint/2010/main" val="13168384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BFECF-C4E7-9232-911C-91D28343A8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E40485-C61F-C4D1-E1D8-C9223F28D948}"/>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630A15C3-094A-207F-226D-29F25A0A3D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7AE60B-E596-EA2F-C574-133377B0BB8C}"/>
              </a:ext>
            </a:extLst>
          </p:cNvPr>
          <p:cNvSpPr>
            <a:spLocks noGrp="1"/>
          </p:cNvSpPr>
          <p:nvPr>
            <p:ph type="sldNum" sz="quarter" idx="5"/>
          </p:nvPr>
        </p:nvSpPr>
        <p:spPr/>
        <p:txBody>
          <a:bodyPr/>
          <a:lstStyle/>
          <a:p>
            <a:fld id="{BE60DC36-8EFA-4378-9855-E019C55AC472}" type="slidenum">
              <a:rPr lang="en-US" smtClean="0"/>
              <a:t>33</a:t>
            </a:fld>
            <a:endParaRPr lang="en-US" dirty="0"/>
          </a:p>
        </p:txBody>
      </p:sp>
    </p:spTree>
    <p:extLst>
      <p:ext uri="{BB962C8B-B14F-4D97-AF65-F5344CB8AC3E}">
        <p14:creationId xmlns:p14="http://schemas.microsoft.com/office/powerpoint/2010/main" val="32733686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5C2D2-7B6F-3F59-9F14-C55FA6F110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FC33E2-ECCC-8781-B83C-C1AE18FACA52}"/>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EB6AB9BA-5C16-1279-C91E-9BFC5644D4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6290A-252F-FB57-B3B1-9BC617A748B5}"/>
              </a:ext>
            </a:extLst>
          </p:cNvPr>
          <p:cNvSpPr>
            <a:spLocks noGrp="1"/>
          </p:cNvSpPr>
          <p:nvPr>
            <p:ph type="sldNum" sz="quarter" idx="5"/>
          </p:nvPr>
        </p:nvSpPr>
        <p:spPr/>
        <p:txBody>
          <a:bodyPr/>
          <a:lstStyle/>
          <a:p>
            <a:fld id="{BE60DC36-8EFA-4378-9855-E019C55AC472}" type="slidenum">
              <a:rPr lang="en-US" smtClean="0"/>
              <a:t>34</a:t>
            </a:fld>
            <a:endParaRPr lang="en-US" dirty="0"/>
          </a:p>
        </p:txBody>
      </p:sp>
    </p:spTree>
    <p:extLst>
      <p:ext uri="{BB962C8B-B14F-4D97-AF65-F5344CB8AC3E}">
        <p14:creationId xmlns:p14="http://schemas.microsoft.com/office/powerpoint/2010/main" val="16595624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F7861-F7B6-8893-54CF-262109DBB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2093B-0015-47C1-71F6-4208ADDD511A}"/>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3CEEBC2A-5A24-3997-29FE-3FCF695153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DDA1E4-1FFE-A4BE-33CF-57FDD3677F0F}"/>
              </a:ext>
            </a:extLst>
          </p:cNvPr>
          <p:cNvSpPr>
            <a:spLocks noGrp="1"/>
          </p:cNvSpPr>
          <p:nvPr>
            <p:ph type="sldNum" sz="quarter" idx="5"/>
          </p:nvPr>
        </p:nvSpPr>
        <p:spPr/>
        <p:txBody>
          <a:bodyPr/>
          <a:lstStyle/>
          <a:p>
            <a:fld id="{BE60DC36-8EFA-4378-9855-E019C55AC472}" type="slidenum">
              <a:rPr lang="en-US" smtClean="0"/>
              <a:t>36</a:t>
            </a:fld>
            <a:endParaRPr lang="en-US" dirty="0"/>
          </a:p>
        </p:txBody>
      </p:sp>
    </p:spTree>
    <p:extLst>
      <p:ext uri="{BB962C8B-B14F-4D97-AF65-F5344CB8AC3E}">
        <p14:creationId xmlns:p14="http://schemas.microsoft.com/office/powerpoint/2010/main" val="26218504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0DFDF-4C20-4E0B-F686-12AA2C6CB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E7FC6-0AD6-FF05-B676-82F53912D773}"/>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C368B215-49B1-BA79-C603-1A903D66F1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D0A0B6-024D-23C6-740D-C9C00F8CD958}"/>
              </a:ext>
            </a:extLst>
          </p:cNvPr>
          <p:cNvSpPr>
            <a:spLocks noGrp="1"/>
          </p:cNvSpPr>
          <p:nvPr>
            <p:ph type="sldNum" sz="quarter" idx="5"/>
          </p:nvPr>
        </p:nvSpPr>
        <p:spPr/>
        <p:txBody>
          <a:bodyPr/>
          <a:lstStyle/>
          <a:p>
            <a:fld id="{BE60DC36-8EFA-4378-9855-E019C55AC472}" type="slidenum">
              <a:rPr lang="en-US" smtClean="0"/>
              <a:t>37</a:t>
            </a:fld>
            <a:endParaRPr lang="en-US" dirty="0"/>
          </a:p>
        </p:txBody>
      </p:sp>
    </p:spTree>
    <p:extLst>
      <p:ext uri="{BB962C8B-B14F-4D97-AF65-F5344CB8AC3E}">
        <p14:creationId xmlns:p14="http://schemas.microsoft.com/office/powerpoint/2010/main" val="36130077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80D99-6370-3D60-D5C8-B89D378117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FE8F07-30CE-F805-8E25-C4FFB64C4599}"/>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01D90140-1E2D-448B-BB1E-4ED3141A9F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F7C3ED-4578-082E-2E99-831428E8702E}"/>
              </a:ext>
            </a:extLst>
          </p:cNvPr>
          <p:cNvSpPr>
            <a:spLocks noGrp="1"/>
          </p:cNvSpPr>
          <p:nvPr>
            <p:ph type="sldNum" sz="quarter" idx="5"/>
          </p:nvPr>
        </p:nvSpPr>
        <p:spPr/>
        <p:txBody>
          <a:bodyPr/>
          <a:lstStyle/>
          <a:p>
            <a:fld id="{BE60DC36-8EFA-4378-9855-E019C55AC472}" type="slidenum">
              <a:rPr lang="en-US" smtClean="0"/>
              <a:t>38</a:t>
            </a:fld>
            <a:endParaRPr lang="en-US" dirty="0"/>
          </a:p>
        </p:txBody>
      </p:sp>
    </p:spTree>
    <p:extLst>
      <p:ext uri="{BB962C8B-B14F-4D97-AF65-F5344CB8AC3E}">
        <p14:creationId xmlns:p14="http://schemas.microsoft.com/office/powerpoint/2010/main" val="38189765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7A546-3C42-ACAF-7ADA-385B94EAE3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D878A-24C1-03E7-73D5-DA66786DE019}"/>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C2590766-17D0-51C5-CBD6-4D0B30079B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7D265D-894F-5C34-0C68-C35AB035B859}"/>
              </a:ext>
            </a:extLst>
          </p:cNvPr>
          <p:cNvSpPr>
            <a:spLocks noGrp="1"/>
          </p:cNvSpPr>
          <p:nvPr>
            <p:ph type="sldNum" sz="quarter" idx="5"/>
          </p:nvPr>
        </p:nvSpPr>
        <p:spPr/>
        <p:txBody>
          <a:bodyPr/>
          <a:lstStyle/>
          <a:p>
            <a:fld id="{BE60DC36-8EFA-4378-9855-E019C55AC472}" type="slidenum">
              <a:rPr lang="en-US" smtClean="0"/>
              <a:t>39</a:t>
            </a:fld>
            <a:endParaRPr lang="en-US" dirty="0"/>
          </a:p>
        </p:txBody>
      </p:sp>
    </p:spTree>
    <p:extLst>
      <p:ext uri="{BB962C8B-B14F-4D97-AF65-F5344CB8AC3E}">
        <p14:creationId xmlns:p14="http://schemas.microsoft.com/office/powerpoint/2010/main" val="6701498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E9E43-C30D-9F36-96BC-9E328A3A92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D6750-9158-D24B-DB4B-5FC08C497DFC}"/>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08F25EC-D2B2-EBB6-21F0-DD2C5ACC25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68359C-6CC6-D87D-E837-6A66AB585F92}"/>
              </a:ext>
            </a:extLst>
          </p:cNvPr>
          <p:cNvSpPr>
            <a:spLocks noGrp="1"/>
          </p:cNvSpPr>
          <p:nvPr>
            <p:ph type="sldNum" sz="quarter" idx="5"/>
          </p:nvPr>
        </p:nvSpPr>
        <p:spPr/>
        <p:txBody>
          <a:bodyPr/>
          <a:lstStyle/>
          <a:p>
            <a:fld id="{BE60DC36-8EFA-4378-9855-E019C55AC472}" type="slidenum">
              <a:rPr lang="en-US" smtClean="0"/>
              <a:t>40</a:t>
            </a:fld>
            <a:endParaRPr lang="en-US" dirty="0"/>
          </a:p>
        </p:txBody>
      </p:sp>
    </p:spTree>
    <p:extLst>
      <p:ext uri="{BB962C8B-B14F-4D97-AF65-F5344CB8AC3E}">
        <p14:creationId xmlns:p14="http://schemas.microsoft.com/office/powerpoint/2010/main" val="6663745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5F072-A64F-9131-3D77-55F4A1854F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02F07-6F70-7B8A-DF87-D0DE498156B7}"/>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A13248E9-1984-192B-D2C2-B93F3A1B7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B84516-0B98-29C8-0DEF-DE688770F140}"/>
              </a:ext>
            </a:extLst>
          </p:cNvPr>
          <p:cNvSpPr>
            <a:spLocks noGrp="1"/>
          </p:cNvSpPr>
          <p:nvPr>
            <p:ph type="sldNum" sz="quarter" idx="5"/>
          </p:nvPr>
        </p:nvSpPr>
        <p:spPr/>
        <p:txBody>
          <a:bodyPr/>
          <a:lstStyle/>
          <a:p>
            <a:fld id="{BE60DC36-8EFA-4378-9855-E019C55AC472}" type="slidenum">
              <a:rPr lang="en-US" smtClean="0"/>
              <a:t>41</a:t>
            </a:fld>
            <a:endParaRPr lang="en-US" dirty="0"/>
          </a:p>
        </p:txBody>
      </p:sp>
    </p:spTree>
    <p:extLst>
      <p:ext uri="{BB962C8B-B14F-4D97-AF65-F5344CB8AC3E}">
        <p14:creationId xmlns:p14="http://schemas.microsoft.com/office/powerpoint/2010/main" val="7670253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C5C28-B205-1F9C-CA2E-D666FBC13D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B5DAA-DCBF-078F-DC87-41D6F624E03E}"/>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39F1E686-66EB-DD76-BD8D-637BD14CBF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430FA9-CDA3-EED8-66B1-BEC724F90B25}"/>
              </a:ext>
            </a:extLst>
          </p:cNvPr>
          <p:cNvSpPr>
            <a:spLocks noGrp="1"/>
          </p:cNvSpPr>
          <p:nvPr>
            <p:ph type="sldNum" sz="quarter" idx="5"/>
          </p:nvPr>
        </p:nvSpPr>
        <p:spPr/>
        <p:txBody>
          <a:bodyPr/>
          <a:lstStyle/>
          <a:p>
            <a:fld id="{BE60DC36-8EFA-4378-9855-E019C55AC472}" type="slidenum">
              <a:rPr lang="en-US" smtClean="0"/>
              <a:t>42</a:t>
            </a:fld>
            <a:endParaRPr lang="en-US" dirty="0"/>
          </a:p>
        </p:txBody>
      </p:sp>
    </p:spTree>
    <p:extLst>
      <p:ext uri="{BB962C8B-B14F-4D97-AF65-F5344CB8AC3E}">
        <p14:creationId xmlns:p14="http://schemas.microsoft.com/office/powerpoint/2010/main" val="30737871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BE88B-0C70-0C2C-5693-EFE5E90E9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EAA64-1E91-62A6-80D1-50A99C0000F6}"/>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129FF7DE-D048-E112-5176-8AAC3CB470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F2A1F4-141C-6E75-47E7-E230C684608F}"/>
              </a:ext>
            </a:extLst>
          </p:cNvPr>
          <p:cNvSpPr>
            <a:spLocks noGrp="1"/>
          </p:cNvSpPr>
          <p:nvPr>
            <p:ph type="sldNum" sz="quarter" idx="5"/>
          </p:nvPr>
        </p:nvSpPr>
        <p:spPr/>
        <p:txBody>
          <a:bodyPr/>
          <a:lstStyle/>
          <a:p>
            <a:fld id="{BE60DC36-8EFA-4378-9855-E019C55AC472}" type="slidenum">
              <a:rPr lang="en-US" smtClean="0"/>
              <a:t>43</a:t>
            </a:fld>
            <a:endParaRPr lang="en-US" dirty="0"/>
          </a:p>
        </p:txBody>
      </p:sp>
    </p:spTree>
    <p:extLst>
      <p:ext uri="{BB962C8B-B14F-4D97-AF65-F5344CB8AC3E}">
        <p14:creationId xmlns:p14="http://schemas.microsoft.com/office/powerpoint/2010/main" val="4884549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C658-3AEF-6920-55EB-3AA5D9EBE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2B41B1-446D-8089-8BAD-72669110F3F2}"/>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798374F-89C6-D72D-824F-1205C12854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270B70-4FD9-10C2-4233-D355B4C53368}"/>
              </a:ext>
            </a:extLst>
          </p:cNvPr>
          <p:cNvSpPr>
            <a:spLocks noGrp="1"/>
          </p:cNvSpPr>
          <p:nvPr>
            <p:ph type="sldNum" sz="quarter" idx="5"/>
          </p:nvPr>
        </p:nvSpPr>
        <p:spPr/>
        <p:txBody>
          <a:bodyPr/>
          <a:lstStyle/>
          <a:p>
            <a:fld id="{BE60DC36-8EFA-4378-9855-E019C55AC472}" type="slidenum">
              <a:rPr lang="en-US" smtClean="0"/>
              <a:t>44</a:t>
            </a:fld>
            <a:endParaRPr lang="en-US" dirty="0"/>
          </a:p>
        </p:txBody>
      </p:sp>
    </p:spTree>
    <p:extLst>
      <p:ext uri="{BB962C8B-B14F-4D97-AF65-F5344CB8AC3E}">
        <p14:creationId xmlns:p14="http://schemas.microsoft.com/office/powerpoint/2010/main" val="16093674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BD437-3E0D-9A6F-5A2D-33667CE47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C1CC0-81A2-1AE3-05C7-28F5F7A33B07}"/>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455C66F8-AA6F-9910-7AF5-3E0270AA4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1B453C-2A67-F9BE-54A3-2CEE52FA0FEF}"/>
              </a:ext>
            </a:extLst>
          </p:cNvPr>
          <p:cNvSpPr>
            <a:spLocks noGrp="1"/>
          </p:cNvSpPr>
          <p:nvPr>
            <p:ph type="sldNum" sz="quarter" idx="5"/>
          </p:nvPr>
        </p:nvSpPr>
        <p:spPr/>
        <p:txBody>
          <a:bodyPr/>
          <a:lstStyle/>
          <a:p>
            <a:fld id="{BE60DC36-8EFA-4378-9855-E019C55AC472}" type="slidenum">
              <a:rPr lang="en-US" smtClean="0"/>
              <a:t>45</a:t>
            </a:fld>
            <a:endParaRPr lang="en-US" dirty="0"/>
          </a:p>
        </p:txBody>
      </p:sp>
    </p:spTree>
    <p:extLst>
      <p:ext uri="{BB962C8B-B14F-4D97-AF65-F5344CB8AC3E}">
        <p14:creationId xmlns:p14="http://schemas.microsoft.com/office/powerpoint/2010/main" val="625869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CECAD-397D-D0A6-8E3D-1D05023259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35335-A862-FB8F-2622-225823D49DE9}"/>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55D2E78-90CE-A8FE-D3DE-29F1C56F0D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FA6528-9DCD-8E5C-288B-4C847C82C37E}"/>
              </a:ext>
            </a:extLst>
          </p:cNvPr>
          <p:cNvSpPr>
            <a:spLocks noGrp="1"/>
          </p:cNvSpPr>
          <p:nvPr>
            <p:ph type="sldNum" sz="quarter" idx="5"/>
          </p:nvPr>
        </p:nvSpPr>
        <p:spPr/>
        <p:txBody>
          <a:bodyPr/>
          <a:lstStyle/>
          <a:p>
            <a:fld id="{BE60DC36-8EFA-4378-9855-E019C55AC472}" type="slidenum">
              <a:rPr lang="en-US" smtClean="0"/>
              <a:t>46</a:t>
            </a:fld>
            <a:endParaRPr lang="en-US" dirty="0"/>
          </a:p>
        </p:txBody>
      </p:sp>
    </p:spTree>
    <p:extLst>
      <p:ext uri="{BB962C8B-B14F-4D97-AF65-F5344CB8AC3E}">
        <p14:creationId xmlns:p14="http://schemas.microsoft.com/office/powerpoint/2010/main" val="34977598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47</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10/29/2025</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10/29/2025</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44.jpeg"/></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4000" y="4376036"/>
            <a:ext cx="9144000" cy="1384995"/>
          </a:xfrm>
        </p:spPr>
        <p:txBody>
          <a:bodyPr lIns="0" tIns="0" rIns="0" bIns="0" anchor="t">
            <a:spAutoFit/>
          </a:bodyPr>
          <a:lstStyle/>
          <a:p>
            <a:r>
              <a:rPr lang="en-US" b="1" dirty="0">
                <a:solidFill>
                  <a:schemeClr val="bg1"/>
                </a:solidFill>
              </a:rPr>
              <a:t>Final Panel Presentation </a:t>
            </a:r>
            <a:br>
              <a:rPr lang="en-US" dirty="0">
                <a:solidFill>
                  <a:schemeClr val="bg1"/>
                </a:solidFill>
              </a:rPr>
            </a:br>
            <a:r>
              <a:rPr lang="en-US" sz="4000" dirty="0">
                <a:solidFill>
                  <a:schemeClr val="accent4"/>
                </a:solidFill>
              </a:rPr>
              <a:t>New Zealand Tourism Forecasting</a:t>
            </a:r>
            <a:endParaRPr lang="en-US" dirty="0">
              <a:solidFill>
                <a:schemeClr val="accent4"/>
              </a:solidFill>
            </a:endParaRPr>
          </a:p>
        </p:txBody>
      </p:sp>
      <p:pic>
        <p:nvPicPr>
          <p:cNvPr id="3" name="Picture 2">
            <a:extLst>
              <a:ext uri="{FF2B5EF4-FFF2-40B4-BE49-F238E27FC236}">
                <a16:creationId xmlns:a16="http://schemas.microsoft.com/office/drawing/2014/main" id="{0D8861A3-FB3D-946F-2807-45C2CB3C7D7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4294821" y="416914"/>
            <a:ext cx="3602355" cy="3632835"/>
          </a:xfrm>
          <a:prstGeom prst="rect">
            <a:avLst/>
          </a:prstGeom>
          <a:noFill/>
          <a:ln>
            <a:noFill/>
          </a:ln>
        </p:spPr>
      </p:pic>
      <p:sp>
        <p:nvSpPr>
          <p:cNvPr id="15" name="TextBox 14">
            <a:extLst>
              <a:ext uri="{FF2B5EF4-FFF2-40B4-BE49-F238E27FC236}">
                <a16:creationId xmlns:a16="http://schemas.microsoft.com/office/drawing/2014/main" id="{B1DB0F6C-0696-5E1A-4E49-FA2301FA1499}"/>
              </a:ext>
            </a:extLst>
          </p:cNvPr>
          <p:cNvSpPr txBox="1"/>
          <p:nvPr/>
        </p:nvSpPr>
        <p:spPr>
          <a:xfrm>
            <a:off x="3291290" y="5761031"/>
            <a:ext cx="6097836" cy="646331"/>
          </a:xfrm>
          <a:prstGeom prst="rect">
            <a:avLst/>
          </a:prstGeom>
          <a:noFill/>
        </p:spPr>
        <p:txBody>
          <a:bodyPr wrap="square">
            <a:spAutoFit/>
          </a:bodyPr>
          <a:lstStyle/>
          <a:p>
            <a:pPr algn="ctr"/>
            <a:r>
              <a:rPr lang="en-NZ" dirty="0">
                <a:solidFill>
                  <a:schemeClr val="bg1"/>
                </a:solidFill>
              </a:rPr>
              <a:t>LSG - Lakshya Mann, Shivam Arora, Gowtham R Panicker</a:t>
            </a:r>
            <a:br>
              <a:rPr lang="en-NZ" dirty="0">
                <a:solidFill>
                  <a:schemeClr val="bg1"/>
                </a:solidFill>
              </a:rPr>
            </a:br>
            <a:r>
              <a:rPr lang="en-US" dirty="0">
                <a:solidFill>
                  <a:schemeClr val="bg1"/>
                </a:solidFill>
              </a:rPr>
              <a:t>Client Name: Dr. Trang Do</a:t>
            </a:r>
            <a:r>
              <a:rPr lang="en-NZ" dirty="0">
                <a:solidFill>
                  <a:schemeClr val="bg1"/>
                </a:solidFill>
              </a:rPr>
              <a:t> </a:t>
            </a:r>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D011A-6F21-2E4D-940B-FBFFAB996CFD}"/>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D632259-6C93-1A4F-BD39-480E28181F68}"/>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A5EEF02-E28E-0F29-91AC-98FBC7D48849}"/>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 Table of Contents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E6B5CCB8-9FFD-B2AE-957D-BC4D6A02B6C4}"/>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299AEEF5-9C83-2861-3C11-E37C92CA4C0E}"/>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1DE76F00-F858-9368-0962-D2CF44DBFC96}"/>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7AC4235A-B394-CA4B-579F-566EE7A0F02C}"/>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348BD910-0A6E-8190-6BF9-6076399E2382}"/>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TextBox 4">
            <a:extLst>
              <a:ext uri="{FF2B5EF4-FFF2-40B4-BE49-F238E27FC236}">
                <a16:creationId xmlns:a16="http://schemas.microsoft.com/office/drawing/2014/main" id="{1E037B83-0798-177F-4981-08896FACD523}"/>
              </a:ext>
            </a:extLst>
          </p:cNvPr>
          <p:cNvSpPr txBox="1"/>
          <p:nvPr/>
        </p:nvSpPr>
        <p:spPr>
          <a:xfrm>
            <a:off x="662557" y="613523"/>
            <a:ext cx="9395843" cy="6494085"/>
          </a:xfrm>
          <a:prstGeom prst="rect">
            <a:avLst/>
          </a:prstGeom>
          <a:noFill/>
        </p:spPr>
        <p:txBody>
          <a:bodyPr wrap="square" rtlCol="0">
            <a:spAutoFit/>
          </a:bodyPr>
          <a:lstStyle/>
          <a:p>
            <a:r>
              <a:rPr lang="en-US" sz="1300" b="1" dirty="0"/>
              <a:t>1. Title Slide</a:t>
            </a:r>
            <a:endParaRPr lang="en-US" sz="1300" dirty="0"/>
          </a:p>
          <a:p>
            <a:r>
              <a:rPr lang="en-US" sz="1300" b="1" dirty="0"/>
              <a:t>3. Team Members</a:t>
            </a:r>
            <a:endParaRPr lang="en-US" sz="1300" dirty="0"/>
          </a:p>
          <a:p>
            <a:r>
              <a:rPr lang="en-US" sz="1300" b="1" dirty="0"/>
              <a:t>4. Project Overview</a:t>
            </a:r>
            <a:endParaRPr lang="en-US" sz="1300" dirty="0"/>
          </a:p>
          <a:p>
            <a:r>
              <a:rPr lang="en-US" sz="1300" b="1" dirty="0"/>
              <a:t>5. Project Development</a:t>
            </a:r>
            <a:endParaRPr lang="en-US" sz="1300" dirty="0"/>
          </a:p>
          <a:p>
            <a:r>
              <a:rPr lang="en-US" sz="1300" b="1" dirty="0"/>
              <a:t>6. Methodology</a:t>
            </a:r>
            <a:endParaRPr lang="en-US" sz="1300" dirty="0"/>
          </a:p>
          <a:p>
            <a:r>
              <a:rPr lang="en-US" sz="1300" b="1" dirty="0"/>
              <a:t>7. Sprint Overview</a:t>
            </a:r>
            <a:endParaRPr lang="en-US" sz="1300" dirty="0"/>
          </a:p>
          <a:p>
            <a:r>
              <a:rPr lang="en-US" sz="1300" b="1" dirty="0"/>
              <a:t>8. Research and Tools</a:t>
            </a:r>
          </a:p>
          <a:p>
            <a:r>
              <a:rPr lang="en-US" sz="1300" b="1" dirty="0"/>
              <a:t>9. How the project was tested</a:t>
            </a:r>
          </a:p>
          <a:p>
            <a:r>
              <a:rPr lang="en-US" sz="1300" b="1" dirty="0"/>
              <a:t>10. Deliverables Completed </a:t>
            </a:r>
          </a:p>
          <a:p>
            <a:r>
              <a:rPr lang="en-US" sz="1300" b="1" dirty="0"/>
              <a:t>11. Model Comparison and Accuracy Evaluation</a:t>
            </a:r>
            <a:br>
              <a:rPr lang="en-US" sz="1300" dirty="0"/>
            </a:br>
            <a:r>
              <a:rPr lang="en-US" sz="1300" dirty="0"/>
              <a:t>  • Transaction Spending Forecasts (ARIMA, SARIMAX, VAR, Random Forest) (12-19)</a:t>
            </a:r>
            <a:br>
              <a:rPr lang="en-US" sz="1300" dirty="0"/>
            </a:br>
            <a:r>
              <a:rPr lang="en-US" sz="1300" dirty="0"/>
              <a:t>  • Accommodation Forecasts (Domestic, International, Total Guest Nights) (21-24)</a:t>
            </a:r>
            <a:br>
              <a:rPr lang="en-US" sz="1300" dirty="0"/>
            </a:br>
            <a:r>
              <a:rPr lang="en-US" sz="1300" dirty="0"/>
              <a:t>  • Visitor Arrival Forecasts (Domestic &amp; International) (26-29)</a:t>
            </a:r>
          </a:p>
          <a:p>
            <a:r>
              <a:rPr lang="en-US" sz="1300" b="1" dirty="0"/>
              <a:t>30. Dashboard Overview</a:t>
            </a:r>
            <a:br>
              <a:rPr lang="en-US" sz="1300" dirty="0"/>
            </a:br>
            <a:r>
              <a:rPr lang="en-US" sz="1300" dirty="0"/>
              <a:t>  • Summary Page (31)</a:t>
            </a:r>
            <a:br>
              <a:rPr lang="en-US" sz="1300" dirty="0"/>
            </a:br>
            <a:r>
              <a:rPr lang="en-US" sz="1300" dirty="0"/>
              <a:t>  • Guest Nights Page (32)</a:t>
            </a:r>
            <a:br>
              <a:rPr lang="en-US" sz="1300" dirty="0"/>
            </a:br>
            <a:r>
              <a:rPr lang="en-US" sz="1300" dirty="0"/>
              <a:t>  • Visitor Arrivals Page (33)</a:t>
            </a:r>
            <a:br>
              <a:rPr lang="en-US" sz="1300" dirty="0"/>
            </a:br>
            <a:r>
              <a:rPr lang="en-US" sz="1300" dirty="0"/>
              <a:t>  • Spending Page (34)</a:t>
            </a:r>
          </a:p>
          <a:p>
            <a:r>
              <a:rPr lang="en-US" sz="1300" dirty="0"/>
              <a:t>       • Live demonstration (35)</a:t>
            </a:r>
          </a:p>
          <a:p>
            <a:r>
              <a:rPr lang="en-US" sz="1300" b="1" dirty="0"/>
              <a:t>36. Testing and Validation</a:t>
            </a:r>
          </a:p>
          <a:p>
            <a:r>
              <a:rPr lang="en-US" sz="1300" b="1" dirty="0"/>
              <a:t>37. Test Cases</a:t>
            </a:r>
          </a:p>
          <a:p>
            <a:r>
              <a:rPr lang="en-US" sz="1300" b="1" dirty="0"/>
              <a:t>38. Testing Evidence </a:t>
            </a:r>
          </a:p>
          <a:p>
            <a:r>
              <a:rPr lang="en-US" sz="1300" b="1" dirty="0"/>
              <a:t>39. Testing Evidence (Cont’d)</a:t>
            </a:r>
          </a:p>
          <a:p>
            <a:r>
              <a:rPr lang="en-US" sz="1300" b="1" dirty="0"/>
              <a:t>40. Testing Conclusion </a:t>
            </a:r>
            <a:endParaRPr lang="en-US" sz="1300" dirty="0"/>
          </a:p>
          <a:p>
            <a:r>
              <a:rPr lang="en-US" sz="1300" b="1" dirty="0"/>
              <a:t>41. Key Milestones</a:t>
            </a:r>
            <a:endParaRPr lang="en-US" sz="1300" dirty="0"/>
          </a:p>
          <a:p>
            <a:r>
              <a:rPr lang="en-US" sz="1300" b="1" dirty="0"/>
              <a:t>42. Changes in Methodology, Deliverables, or Dates</a:t>
            </a:r>
            <a:endParaRPr lang="en-US" sz="1300" dirty="0"/>
          </a:p>
          <a:p>
            <a:r>
              <a:rPr lang="en-US" sz="1300" b="1" dirty="0"/>
              <a:t>43. Trello</a:t>
            </a:r>
            <a:endParaRPr lang="en-US" sz="1300" dirty="0"/>
          </a:p>
          <a:p>
            <a:r>
              <a:rPr lang="en-US" sz="1300" b="1" dirty="0"/>
              <a:t>44. Gantt Chart (Period One)</a:t>
            </a:r>
            <a:endParaRPr lang="en-US" sz="1300" dirty="0"/>
          </a:p>
          <a:p>
            <a:r>
              <a:rPr lang="en-US" sz="1300" b="1" dirty="0"/>
              <a:t>45. Gantt Chart (Period Two)</a:t>
            </a:r>
            <a:endParaRPr lang="en-US" sz="1300" dirty="0"/>
          </a:p>
          <a:p>
            <a:r>
              <a:rPr lang="en-US" sz="1300" b="1" dirty="0"/>
              <a:t>46. Client Feedback</a:t>
            </a:r>
            <a:endParaRPr lang="en-US" sz="1300" dirty="0"/>
          </a:p>
          <a:p>
            <a:r>
              <a:rPr lang="en-US" sz="1300" b="1" dirty="0"/>
              <a:t>47. Thank You</a:t>
            </a:r>
            <a:endParaRPr lang="en-US" sz="1300" dirty="0"/>
          </a:p>
          <a:p>
            <a:pPr marL="457200" lvl="0" indent="-457200" eaLnBrk="0" fontAlgn="base" hangingPunct="0">
              <a:spcBef>
                <a:spcPct val="0"/>
              </a:spcBef>
              <a:spcAft>
                <a:spcPct val="0"/>
              </a:spcAft>
              <a:buFont typeface="+mj-lt"/>
              <a:buAutoNum type="arabicPeriod"/>
            </a:pPr>
            <a:endParaRPr lang="en-US" altLang="en-US" sz="1300" dirty="0">
              <a:latin typeface="Segoe UI Light (Body)"/>
            </a:endParaRPr>
          </a:p>
        </p:txBody>
      </p:sp>
    </p:spTree>
    <p:extLst>
      <p:ext uri="{BB962C8B-B14F-4D97-AF65-F5344CB8AC3E}">
        <p14:creationId xmlns:p14="http://schemas.microsoft.com/office/powerpoint/2010/main" val="2035883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03366-CC76-A41C-82E4-F9AECFB5B04D}"/>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9CEFD4E-7271-1F4E-B369-3736C359FF2A}"/>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21B73F0-20BD-10BF-D7D7-F8C3698C82DF}"/>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 3.Team Members</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742D7FFC-1DA6-FBA5-D509-021F2181C9E5}"/>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630862C6-B050-F2EB-9954-934C6DFC698B}"/>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61560753-54DD-9B7F-DA0F-059E962A6A0C}"/>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9C62F21C-3160-53C9-FA69-EEF52A752997}"/>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E93927BD-4D63-03BC-608A-0DFE1D65DAE5}"/>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 name="TextBox 1">
            <a:extLst>
              <a:ext uri="{FF2B5EF4-FFF2-40B4-BE49-F238E27FC236}">
                <a16:creationId xmlns:a16="http://schemas.microsoft.com/office/drawing/2014/main" id="{048B3B22-96AA-A30A-CB12-4329F877D81E}"/>
              </a:ext>
            </a:extLst>
          </p:cNvPr>
          <p:cNvSpPr txBox="1"/>
          <p:nvPr/>
        </p:nvSpPr>
        <p:spPr>
          <a:xfrm>
            <a:off x="676710" y="1810536"/>
            <a:ext cx="10545284" cy="1200329"/>
          </a:xfrm>
          <a:prstGeom prst="rect">
            <a:avLst/>
          </a:prstGeom>
          <a:noFill/>
        </p:spPr>
        <p:txBody>
          <a:bodyPr wrap="square" rtlCol="0">
            <a:spAutoFit/>
          </a:bodyPr>
          <a:lstStyle/>
          <a:p>
            <a:r>
              <a:rPr lang="en-US" sz="2400" dirty="0"/>
              <a:t>Lakshya Mann – Project Manager and Backup Data Analyst </a:t>
            </a:r>
            <a:br>
              <a:rPr lang="en-US" sz="2400" dirty="0"/>
            </a:br>
            <a:r>
              <a:rPr lang="en-US" sz="2400" dirty="0"/>
              <a:t>Shivam Arora - Data Analyst </a:t>
            </a:r>
          </a:p>
          <a:p>
            <a:r>
              <a:rPr lang="en-US" sz="2400" dirty="0"/>
              <a:t>Gowtham R Panicker - Data Analyst </a:t>
            </a:r>
          </a:p>
        </p:txBody>
      </p:sp>
    </p:spTree>
    <p:extLst>
      <p:ext uri="{BB962C8B-B14F-4D97-AF65-F5344CB8AC3E}">
        <p14:creationId xmlns:p14="http://schemas.microsoft.com/office/powerpoint/2010/main" val="359500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 4.Project Overview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044C3643-8A0E-47C1-BEB8-C73203B5E58D}"/>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FB02354-C73F-4DCF-8004-E9CCA66963EA}"/>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 name="TextBox 1">
            <a:extLst>
              <a:ext uri="{FF2B5EF4-FFF2-40B4-BE49-F238E27FC236}">
                <a16:creationId xmlns:a16="http://schemas.microsoft.com/office/drawing/2014/main" id="{29942FC4-B53A-EE01-9405-4EBAB954E402}"/>
              </a:ext>
            </a:extLst>
          </p:cNvPr>
          <p:cNvSpPr txBox="1"/>
          <p:nvPr/>
        </p:nvSpPr>
        <p:spPr>
          <a:xfrm>
            <a:off x="823358" y="1382286"/>
            <a:ext cx="10545284"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t>Developed an intelligent tourism forecasting system for New Zealand to support data-driven decision-making across the tourism sector.</a:t>
            </a:r>
          </a:p>
          <a:p>
            <a:pPr marL="342900" indent="-342900">
              <a:buFont typeface="Arial" panose="020B0604020202020204" pitchFamily="34" charset="0"/>
              <a:buChar char="•"/>
            </a:pPr>
            <a:r>
              <a:rPr lang="en-US" sz="2000" dirty="0"/>
              <a:t>Addressed limitations of manual and outdated forecasting methods that lacked analytical accuracy, real-time adaptability, and visual insights.</a:t>
            </a:r>
          </a:p>
          <a:p>
            <a:pPr marL="342900" indent="-342900">
              <a:buFont typeface="Arial" panose="020B0604020202020204" pitchFamily="34" charset="0"/>
              <a:buChar char="•"/>
            </a:pPr>
            <a:r>
              <a:rPr lang="en-US" sz="2000" dirty="0"/>
              <a:t>Created a data-driven forecasting framework integrating machine-learning models (ARIMA, SARIMAX, VAR, Random Forest) with interactive visualisation for accurate and interpretable predictions.</a:t>
            </a:r>
          </a:p>
          <a:p>
            <a:pPr marL="342900" indent="-342900">
              <a:buFont typeface="Arial" panose="020B0604020202020204" pitchFamily="34" charset="0"/>
              <a:buChar char="•"/>
            </a:pPr>
            <a:r>
              <a:rPr lang="en-US" sz="2000" dirty="0"/>
              <a:t>Guided by client deliverables from Dr Trang Do, ensuring the system aligned with practical and analytical needs of tourism authorities.</a:t>
            </a:r>
          </a:p>
          <a:p>
            <a:pPr marL="342900" indent="-342900">
              <a:buFont typeface="Arial" panose="020B0604020202020204" pitchFamily="34" charset="0"/>
              <a:buChar char="•"/>
            </a:pPr>
            <a:r>
              <a:rPr lang="en-US" sz="2000" dirty="0"/>
              <a:t>Adopted an Agile methodology with iterative sprints, continuous testing, and advisor feedback to maintain flexibility and ensure consistent progress.</a:t>
            </a:r>
          </a:p>
          <a:p>
            <a:pPr marL="342900" indent="-342900">
              <a:buFont typeface="Arial" panose="020B0604020202020204" pitchFamily="34" charset="0"/>
              <a:buChar char="•"/>
            </a:pPr>
            <a:r>
              <a:rPr lang="en-US" sz="2000" dirty="0"/>
              <a:t>Produced a transparent and accessible forecasting solution that enhances accuracy and empowers stakeholders to plan strategically and respond effectively to emerging tourism trends.</a:t>
            </a:r>
          </a:p>
        </p:txBody>
      </p:sp>
    </p:spTree>
    <p:extLst>
      <p:ext uri="{BB962C8B-B14F-4D97-AF65-F5344CB8AC3E}">
        <p14:creationId xmlns:p14="http://schemas.microsoft.com/office/powerpoint/2010/main" val="329971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492E5-1740-3241-8D64-8B4AB18F1062}"/>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1B8EEBA-207F-C44F-8EE7-B6E933EF9DCB}"/>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70195456-593C-6F3E-AD53-1EABB345E1B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 5.Project Development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9A1CD7A2-1BA4-E1E4-4A84-22F5FAB78BA6}"/>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41E5C4BB-B141-7323-B9EB-3043115DAC1F}"/>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CEA42F6F-3F43-7495-3FAF-FE0CFD6B6D6D}"/>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78B2843D-0008-D5C6-9418-08F11C727A13}"/>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DCC1F165-FFA8-C1CF-A3D1-99799EA3824B}"/>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 name="TextBox 1">
            <a:extLst>
              <a:ext uri="{FF2B5EF4-FFF2-40B4-BE49-F238E27FC236}">
                <a16:creationId xmlns:a16="http://schemas.microsoft.com/office/drawing/2014/main" id="{FF8E7BF6-F642-CA18-06C2-4672C2ED9EDB}"/>
              </a:ext>
            </a:extLst>
          </p:cNvPr>
          <p:cNvSpPr txBox="1"/>
          <p:nvPr/>
        </p:nvSpPr>
        <p:spPr>
          <a:xfrm>
            <a:off x="823358" y="1588481"/>
            <a:ext cx="10545284" cy="4093428"/>
          </a:xfrm>
          <a:prstGeom prst="rect">
            <a:avLst/>
          </a:prstGeom>
          <a:noFill/>
        </p:spPr>
        <p:txBody>
          <a:bodyPr wrap="square" rtlCol="0">
            <a:spAutoFit/>
          </a:bodyPr>
          <a:lstStyle/>
          <a:p>
            <a:pPr marL="342900" indent="-342900">
              <a:buFont typeface="Arial" panose="020B0604020202020204" pitchFamily="34" charset="0"/>
              <a:buChar char="•"/>
            </a:pPr>
            <a:r>
              <a:rPr lang="en-US" sz="2000" dirty="0"/>
              <a:t>Development of the New Zealand Tourism Forecasting System followed an Agile approach, progressing through structured sprints to create a fully functional forecasting solution.</a:t>
            </a:r>
          </a:p>
          <a:p>
            <a:pPr marL="342900" indent="-342900">
              <a:buFont typeface="Arial" panose="020B0604020202020204" pitchFamily="34" charset="0"/>
              <a:buChar char="•"/>
            </a:pPr>
            <a:r>
              <a:rPr lang="en-US" sz="2000" dirty="0"/>
              <a:t>Early stages focused on environment setup, dataset identification, and data preparation, ensuring quality and consistency for analysis.</a:t>
            </a:r>
          </a:p>
          <a:p>
            <a:pPr marL="342900" indent="-342900">
              <a:buFont typeface="Arial" panose="020B0604020202020204" pitchFamily="34" charset="0"/>
              <a:buChar char="•"/>
            </a:pPr>
            <a:r>
              <a:rPr lang="en-US" sz="2000" dirty="0"/>
              <a:t>Successive phases included developing and comparing models such as ARIMA, SARIMAX, VAR, and Random Forest to achieve accurate and stable tourism forecasts.</a:t>
            </a:r>
          </a:p>
          <a:p>
            <a:pPr marL="342900" indent="-342900">
              <a:buFont typeface="Arial" panose="020B0604020202020204" pitchFamily="34" charset="0"/>
              <a:buChar char="•"/>
            </a:pPr>
            <a:r>
              <a:rPr lang="en-US" sz="2000" dirty="0"/>
              <a:t>An interactive Power BI dashboard was designed to visualise processed and forecasted data through clear, comparative visuals for easier interpretation.</a:t>
            </a:r>
          </a:p>
          <a:p>
            <a:pPr marL="342900" indent="-342900">
              <a:buFont typeface="Arial" panose="020B0604020202020204" pitchFamily="34" charset="0"/>
              <a:buChar char="•"/>
            </a:pPr>
            <a:r>
              <a:rPr lang="en-US" sz="2000" dirty="0"/>
              <a:t>Each sprint involved testing, feedback, and refinement, maintaining alignment with deliverables defined by Dr Trang Do.</a:t>
            </a:r>
          </a:p>
          <a:p>
            <a:pPr marL="342900" indent="-342900">
              <a:buFont typeface="Arial" panose="020B0604020202020204" pitchFamily="34" charset="0"/>
              <a:buChar char="•"/>
            </a:pPr>
            <a:r>
              <a:rPr lang="en-US" sz="2000" dirty="0"/>
              <a:t>The outcome delivers accurate, transparent, and actionable insights to support data-driven decision-making in New Zealand’s tourism sector.</a:t>
            </a:r>
          </a:p>
          <a:p>
            <a:endParaRPr lang="en-US" sz="2000" dirty="0"/>
          </a:p>
        </p:txBody>
      </p:sp>
    </p:spTree>
    <p:extLst>
      <p:ext uri="{BB962C8B-B14F-4D97-AF65-F5344CB8AC3E}">
        <p14:creationId xmlns:p14="http://schemas.microsoft.com/office/powerpoint/2010/main" val="3522563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C0C9-BA45-F2BF-A1B0-6D42828C2336}"/>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15041AC-77A9-8B5B-AB67-9CCDBBCF4946}"/>
              </a:ext>
              <a:ext uri="{C183D7F6-B498-43B3-948B-1728B52AA6E4}">
                <adec:decorative xmlns:adec="http://schemas.microsoft.com/office/drawing/2017/decorative" val="1"/>
              </a:ext>
            </a:extLst>
          </p:cNvPr>
          <p:cNvCxnSpPr>
            <a:cxnSpLocks/>
          </p:cNvCxnSpPr>
          <p:nvPr/>
        </p:nvCxnSpPr>
        <p:spPr>
          <a:xfrm>
            <a:off x="7475379" y="522898"/>
            <a:ext cx="4716621"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421A855-A9DB-8038-A5BA-F7045901C207}"/>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 6.Methodology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794DFA59-E0D8-CEE5-73E9-34363BA4320C}"/>
              </a:ext>
              <a:ext uri="{C183D7F6-B498-43B3-948B-1728B52AA6E4}">
                <adec:decorative xmlns:adec="http://schemas.microsoft.com/office/drawing/2017/decorative" val="1"/>
              </a:ext>
            </a:extLst>
          </p:cNvPr>
          <p:cNvCxnSpPr>
            <a:cxnSpLocks/>
          </p:cNvCxnSpPr>
          <p:nvPr/>
        </p:nvCxnSpPr>
        <p:spPr>
          <a:xfrm>
            <a:off x="0" y="522898"/>
            <a:ext cx="4615132"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0001A060-523E-7C4E-09BA-C0641D4E33BF}"/>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60536757-1C06-ACF3-2B9C-9F5DA33B1E04}"/>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8DA61F12-8863-FD8F-7CD0-5FA98BE29CCD}"/>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CAC2DE9F-6BC1-4530-652C-CDDE04FFF7BC}"/>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 name="TextBox 1">
            <a:extLst>
              <a:ext uri="{FF2B5EF4-FFF2-40B4-BE49-F238E27FC236}">
                <a16:creationId xmlns:a16="http://schemas.microsoft.com/office/drawing/2014/main" id="{FF7B9EC6-C580-2F31-BEBF-6B3E345110C6}"/>
              </a:ext>
            </a:extLst>
          </p:cNvPr>
          <p:cNvSpPr txBox="1"/>
          <p:nvPr/>
        </p:nvSpPr>
        <p:spPr>
          <a:xfrm>
            <a:off x="823358" y="1407326"/>
            <a:ext cx="10545284" cy="3785652"/>
          </a:xfrm>
          <a:prstGeom prst="rect">
            <a:avLst/>
          </a:prstGeom>
          <a:noFill/>
        </p:spPr>
        <p:txBody>
          <a:bodyPr wrap="square" rtlCol="0">
            <a:spAutoFit/>
          </a:bodyPr>
          <a:lstStyle/>
          <a:p>
            <a:pPr marL="342900" indent="-342900">
              <a:buFont typeface="Arial" panose="020B0604020202020204" pitchFamily="34" charset="0"/>
              <a:buChar char="•"/>
            </a:pPr>
            <a:r>
              <a:rPr lang="en-US" sz="2000" dirty="0"/>
              <a:t>The project followed the Agile methodology to maintain organisation, flexibility, and consistency throughout development.</a:t>
            </a:r>
          </a:p>
          <a:p>
            <a:pPr marL="342900" indent="-342900">
              <a:buFont typeface="Arial" panose="020B0604020202020204" pitchFamily="34" charset="0"/>
              <a:buChar char="•"/>
            </a:pPr>
            <a:r>
              <a:rPr lang="en-US" sz="2000" dirty="0"/>
              <a:t>Each sprint lasted approximately two weeks, with the final sprint extended for documentation and presentation preparation.</a:t>
            </a:r>
          </a:p>
          <a:p>
            <a:pPr marL="342900" indent="-342900">
              <a:buFont typeface="Arial" panose="020B0604020202020204" pitchFamily="34" charset="0"/>
              <a:buChar char="•"/>
            </a:pPr>
            <a:r>
              <a:rPr lang="en-US" sz="2000" dirty="0"/>
              <a:t>Agile enabled the work to be divided into smaller, manageable goals, supporting regular testing, feedback, and improvement.</a:t>
            </a:r>
          </a:p>
          <a:p>
            <a:pPr marL="342900" indent="-342900">
              <a:buFont typeface="Arial" panose="020B0604020202020204" pitchFamily="34" charset="0"/>
              <a:buChar char="•"/>
            </a:pPr>
            <a:r>
              <a:rPr lang="en-US" sz="2000" dirty="0"/>
              <a:t>Weekly advisor meetings were conducted to review progress, identify challenges, and plan subsequent tasks.</a:t>
            </a:r>
          </a:p>
          <a:p>
            <a:pPr marL="342900" indent="-342900">
              <a:buFont typeface="Arial" panose="020B0604020202020204" pitchFamily="34" charset="0"/>
              <a:buChar char="•"/>
            </a:pPr>
            <a:r>
              <a:rPr lang="en-US" sz="2000" dirty="0"/>
              <a:t>Trello was used for task management and sprint tracking, while OneDrive supported version control and team collaboration.</a:t>
            </a:r>
          </a:p>
          <a:p>
            <a:pPr marL="342900" indent="-342900">
              <a:buFont typeface="Arial" panose="020B0604020202020204" pitchFamily="34" charset="0"/>
              <a:buChar char="•"/>
            </a:pPr>
            <a:r>
              <a:rPr lang="en-US" sz="2000" dirty="0"/>
              <a:t>Each sprint concluded with evaluation and feedback, ensuring continuous improvement and alignment with project deliverables.</a:t>
            </a:r>
          </a:p>
        </p:txBody>
      </p:sp>
    </p:spTree>
    <p:extLst>
      <p:ext uri="{BB962C8B-B14F-4D97-AF65-F5344CB8AC3E}">
        <p14:creationId xmlns:p14="http://schemas.microsoft.com/office/powerpoint/2010/main" val="2793282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7612636" y="522898"/>
            <a:ext cx="457936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7. Sprint Overview</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341768" y="522898"/>
            <a:ext cx="4880743"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rapezoid 1">
            <a:extLst>
              <a:ext uri="{FF2B5EF4-FFF2-40B4-BE49-F238E27FC236}">
                <a16:creationId xmlns:a16="http://schemas.microsoft.com/office/drawing/2014/main" id="{5B804E9F-B6B5-41F9-9B63-9AF435FDC2B7}"/>
              </a:ext>
              <a:ext uri="{C183D7F6-B498-43B3-948B-1728B52AA6E4}">
                <adec:decorative xmlns:adec="http://schemas.microsoft.com/office/drawing/2017/decorative" val="1"/>
              </a:ext>
            </a:extLst>
          </p:cNvPr>
          <p:cNvSpPr/>
          <p:nvPr/>
        </p:nvSpPr>
        <p:spPr>
          <a:xfrm rot="5400000">
            <a:off x="-1112966" y="2328958"/>
            <a:ext cx="4727651" cy="2449876"/>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rapezoid 42">
            <a:extLst>
              <a:ext uri="{FF2B5EF4-FFF2-40B4-BE49-F238E27FC236}">
                <a16:creationId xmlns:a16="http://schemas.microsoft.com/office/drawing/2014/main" id="{0092C447-C8E1-4B12-B012-E6D21CBB1FBE}"/>
              </a:ext>
              <a:ext uri="{C183D7F6-B498-43B3-948B-1728B52AA6E4}">
                <adec:decorative xmlns:adec="http://schemas.microsoft.com/office/drawing/2017/decorative" val="1"/>
              </a:ext>
            </a:extLst>
          </p:cNvPr>
          <p:cNvSpPr/>
          <p:nvPr/>
        </p:nvSpPr>
        <p:spPr>
          <a:xfrm rot="5400000">
            <a:off x="1421622" y="2407827"/>
            <a:ext cx="4727654" cy="2449877"/>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Trapezoid 43">
            <a:extLst>
              <a:ext uri="{FF2B5EF4-FFF2-40B4-BE49-F238E27FC236}">
                <a16:creationId xmlns:a16="http://schemas.microsoft.com/office/drawing/2014/main" id="{7E139379-1914-4446-8D6D-984A47041A54}"/>
              </a:ext>
              <a:ext uri="{C183D7F6-B498-43B3-948B-1728B52AA6E4}">
                <adec:decorative xmlns:adec="http://schemas.microsoft.com/office/drawing/2017/decorative" val="1"/>
              </a:ext>
            </a:extLst>
          </p:cNvPr>
          <p:cNvSpPr/>
          <p:nvPr/>
        </p:nvSpPr>
        <p:spPr>
          <a:xfrm rot="5400000">
            <a:off x="3978408" y="2479088"/>
            <a:ext cx="4639673" cy="2353552"/>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rapezoid 44">
            <a:extLst>
              <a:ext uri="{FF2B5EF4-FFF2-40B4-BE49-F238E27FC236}">
                <a16:creationId xmlns:a16="http://schemas.microsoft.com/office/drawing/2014/main" id="{F79B51BB-1B30-4ED8-B26D-21EE8BC675B2}"/>
              </a:ext>
              <a:ext uri="{C183D7F6-B498-43B3-948B-1728B52AA6E4}">
                <adec:decorative xmlns:adec="http://schemas.microsoft.com/office/drawing/2017/decorative" val="1"/>
              </a:ext>
            </a:extLst>
          </p:cNvPr>
          <p:cNvSpPr/>
          <p:nvPr/>
        </p:nvSpPr>
        <p:spPr>
          <a:xfrm rot="5400000">
            <a:off x="6412286" y="2661630"/>
            <a:ext cx="4477828" cy="2192101"/>
          </a:xfrm>
          <a:prstGeom prst="trapezoid">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3F19BFA5-D0CA-4CF0-8499-504D956B6563}"/>
              </a:ext>
            </a:extLst>
          </p:cNvPr>
          <p:cNvSpPr/>
          <p:nvPr/>
        </p:nvSpPr>
        <p:spPr>
          <a:xfrm>
            <a:off x="389378" y="1814699"/>
            <a:ext cx="1709226" cy="492443"/>
          </a:xfrm>
          <a:prstGeom prst="rect">
            <a:avLst/>
          </a:prstGeom>
        </p:spPr>
        <p:txBody>
          <a:bodyPr wrap="square" lIns="0" tIns="0" rIns="0" bIns="0">
            <a:spAutoFit/>
          </a:bodyPr>
          <a:lstStyle/>
          <a:p>
            <a:pPr algn="ctr"/>
            <a:r>
              <a:rPr lang="en-US" sz="1600" b="1" dirty="0">
                <a:solidFill>
                  <a:schemeClr val="bg1"/>
                </a:solidFill>
              </a:rPr>
              <a:t>Sprint 1: </a:t>
            </a:r>
            <a:br>
              <a:rPr lang="en-US" sz="1600" b="1" dirty="0">
                <a:solidFill>
                  <a:schemeClr val="bg1"/>
                </a:solidFill>
              </a:rPr>
            </a:br>
            <a:r>
              <a:rPr lang="en-NZ" sz="1600" b="1" dirty="0">
                <a:solidFill>
                  <a:schemeClr val="bg1"/>
                </a:solidFill>
              </a:rPr>
              <a:t>Project Foundation</a:t>
            </a:r>
            <a:endParaRPr lang="en-US" sz="1600" b="1" dirty="0">
              <a:solidFill>
                <a:schemeClr val="bg1"/>
              </a:solidFill>
            </a:endParaRPr>
          </a:p>
        </p:txBody>
      </p:sp>
      <p:sp>
        <p:nvSpPr>
          <p:cNvPr id="47" name="Rectangle 46">
            <a:extLst>
              <a:ext uri="{FF2B5EF4-FFF2-40B4-BE49-F238E27FC236}">
                <a16:creationId xmlns:a16="http://schemas.microsoft.com/office/drawing/2014/main" id="{1751D31D-3535-411D-8BAC-95CCC90AB185}"/>
              </a:ext>
            </a:extLst>
          </p:cNvPr>
          <p:cNvSpPr/>
          <p:nvPr/>
        </p:nvSpPr>
        <p:spPr>
          <a:xfrm>
            <a:off x="2770245" y="1804313"/>
            <a:ext cx="1920977" cy="738664"/>
          </a:xfrm>
          <a:prstGeom prst="rect">
            <a:avLst/>
          </a:prstGeom>
        </p:spPr>
        <p:txBody>
          <a:bodyPr wrap="square" lIns="0" tIns="0" rIns="0" bIns="0">
            <a:spAutoFit/>
          </a:bodyPr>
          <a:lstStyle/>
          <a:p>
            <a:pPr algn="ctr"/>
            <a:r>
              <a:rPr lang="en-US" sz="1600" b="1" dirty="0">
                <a:solidFill>
                  <a:schemeClr val="bg1"/>
                </a:solidFill>
              </a:rPr>
              <a:t>Sprint 2:</a:t>
            </a:r>
          </a:p>
          <a:p>
            <a:pPr algn="ctr"/>
            <a:r>
              <a:rPr lang="en-US" sz="1600" b="1" dirty="0">
                <a:solidFill>
                  <a:schemeClr val="bg1"/>
                </a:solidFill>
              </a:rPr>
              <a:t> Data Integration and Quality Framework</a:t>
            </a:r>
          </a:p>
        </p:txBody>
      </p:sp>
      <p:sp>
        <p:nvSpPr>
          <p:cNvPr id="48" name="Rectangle 47">
            <a:extLst>
              <a:ext uri="{FF2B5EF4-FFF2-40B4-BE49-F238E27FC236}">
                <a16:creationId xmlns:a16="http://schemas.microsoft.com/office/drawing/2014/main" id="{FA4D735A-8F75-4E2A-8F1A-CC303B0718BA}"/>
              </a:ext>
            </a:extLst>
          </p:cNvPr>
          <p:cNvSpPr/>
          <p:nvPr/>
        </p:nvSpPr>
        <p:spPr>
          <a:xfrm>
            <a:off x="5603886" y="1852920"/>
            <a:ext cx="1951264" cy="738664"/>
          </a:xfrm>
          <a:prstGeom prst="rect">
            <a:avLst/>
          </a:prstGeom>
        </p:spPr>
        <p:txBody>
          <a:bodyPr wrap="square" lIns="0" tIns="0" rIns="0" bIns="0">
            <a:spAutoFit/>
          </a:bodyPr>
          <a:lstStyle/>
          <a:p>
            <a:pPr algn="ctr"/>
            <a:r>
              <a:rPr lang="en-US" sz="1600" b="1" dirty="0">
                <a:solidFill>
                  <a:schemeClr val="bg1"/>
                </a:solidFill>
              </a:rPr>
              <a:t>Sprint 3: </a:t>
            </a:r>
          </a:p>
          <a:p>
            <a:r>
              <a:rPr lang="en-US" sz="1600" b="1" dirty="0">
                <a:solidFill>
                  <a:schemeClr val="bg1"/>
                </a:solidFill>
              </a:rPr>
              <a:t>Initial Forecasting Model Development </a:t>
            </a:r>
          </a:p>
        </p:txBody>
      </p:sp>
      <p:sp>
        <p:nvSpPr>
          <p:cNvPr id="49" name="Rectangle 48">
            <a:extLst>
              <a:ext uri="{FF2B5EF4-FFF2-40B4-BE49-F238E27FC236}">
                <a16:creationId xmlns:a16="http://schemas.microsoft.com/office/drawing/2014/main" id="{54AB9282-0505-49EB-AABF-998083225E3A}"/>
              </a:ext>
            </a:extLst>
          </p:cNvPr>
          <p:cNvSpPr/>
          <p:nvPr/>
        </p:nvSpPr>
        <p:spPr>
          <a:xfrm>
            <a:off x="7610720" y="2080209"/>
            <a:ext cx="2136531" cy="738664"/>
          </a:xfrm>
          <a:prstGeom prst="rect">
            <a:avLst/>
          </a:prstGeom>
        </p:spPr>
        <p:txBody>
          <a:bodyPr wrap="square" lIns="0" tIns="0" rIns="0" bIns="0">
            <a:spAutoFit/>
          </a:bodyPr>
          <a:lstStyle/>
          <a:p>
            <a:pPr algn="ctr"/>
            <a:r>
              <a:rPr lang="en-NZ" sz="1600" b="1" dirty="0">
                <a:solidFill>
                  <a:schemeClr val="bg1"/>
                </a:solidFill>
              </a:rPr>
              <a:t>Sprint 4: Model improvement and visualisation </a:t>
            </a:r>
            <a:endParaRPr lang="en-US" sz="1600" b="1" dirty="0">
              <a:solidFill>
                <a:schemeClr val="bg1"/>
              </a:solidFill>
            </a:endParaRPr>
          </a:p>
        </p:txBody>
      </p:sp>
      <p:sp>
        <p:nvSpPr>
          <p:cNvPr id="51" name="Rectangle 50">
            <a:extLst>
              <a:ext uri="{FF2B5EF4-FFF2-40B4-BE49-F238E27FC236}">
                <a16:creationId xmlns:a16="http://schemas.microsoft.com/office/drawing/2014/main" id="{8AA18108-5B8B-4147-84A7-D30A16BEC4EA}"/>
              </a:ext>
            </a:extLst>
          </p:cNvPr>
          <p:cNvSpPr/>
          <p:nvPr/>
        </p:nvSpPr>
        <p:spPr>
          <a:xfrm>
            <a:off x="319939" y="2591584"/>
            <a:ext cx="1796581" cy="1928990"/>
          </a:xfrm>
          <a:prstGeom prst="rect">
            <a:avLst/>
          </a:prstGeom>
        </p:spPr>
        <p:txBody>
          <a:bodyPr wrap="square" lIns="0" tIns="0" rIns="0" bIns="0" anchor="t">
            <a:spAutoFit/>
          </a:bodyPr>
          <a:lstStyle/>
          <a:p>
            <a:pPr marL="285750" indent="-285750">
              <a:lnSpc>
                <a:spcPts val="1900"/>
              </a:lnSpc>
              <a:buFont typeface="Arial" panose="020B0604020202020204" pitchFamily="34" charset="0"/>
              <a:buChar char="•"/>
            </a:pPr>
            <a:r>
              <a:rPr lang="en-US" sz="1400" dirty="0"/>
              <a:t>Environment setup </a:t>
            </a:r>
          </a:p>
          <a:p>
            <a:pPr marL="285750" indent="-285750">
              <a:lnSpc>
                <a:spcPts val="1900"/>
              </a:lnSpc>
              <a:buFont typeface="Arial" panose="020B0604020202020204" pitchFamily="34" charset="0"/>
              <a:buChar char="•"/>
            </a:pPr>
            <a:r>
              <a:rPr lang="en-US" sz="1400" dirty="0"/>
              <a:t>Team coordination </a:t>
            </a:r>
          </a:p>
          <a:p>
            <a:pPr marL="285750" indent="-285750">
              <a:lnSpc>
                <a:spcPts val="1900"/>
              </a:lnSpc>
              <a:buFont typeface="Arial" panose="020B0604020202020204" pitchFamily="34" charset="0"/>
              <a:buChar char="•"/>
            </a:pPr>
            <a:r>
              <a:rPr lang="en-US" sz="1400" dirty="0"/>
              <a:t>Defining roles, and identifying key </a:t>
            </a:r>
          </a:p>
          <a:p>
            <a:pPr marL="285750" indent="-285750">
              <a:lnSpc>
                <a:spcPts val="1900"/>
              </a:lnSpc>
              <a:buFont typeface="Arial" panose="020B0604020202020204" pitchFamily="34" charset="0"/>
              <a:buChar char="•"/>
            </a:pPr>
            <a:r>
              <a:rPr lang="en-US" sz="1400" dirty="0"/>
              <a:t>Tourism data </a:t>
            </a:r>
          </a:p>
          <a:p>
            <a:pPr marL="285750" indent="-285750">
              <a:lnSpc>
                <a:spcPts val="1900"/>
              </a:lnSpc>
              <a:buFont typeface="Arial" panose="020B0604020202020204" pitchFamily="34" charset="0"/>
              <a:buChar char="•"/>
            </a:pPr>
            <a:r>
              <a:rPr lang="en-US" sz="1400" dirty="0"/>
              <a:t>Sources to establish the project scope and objectives.</a:t>
            </a:r>
            <a:endParaRPr lang="en-US" sz="1400" dirty="0">
              <a:solidFill>
                <a:schemeClr val="bg1"/>
              </a:solidFill>
              <a:cs typeface="Segoe UI" panose="020B0502040204020203" pitchFamily="34" charset="0"/>
            </a:endParaRPr>
          </a:p>
        </p:txBody>
      </p:sp>
      <p:sp>
        <p:nvSpPr>
          <p:cNvPr id="52" name="Rectangle 51">
            <a:extLst>
              <a:ext uri="{FF2B5EF4-FFF2-40B4-BE49-F238E27FC236}">
                <a16:creationId xmlns:a16="http://schemas.microsoft.com/office/drawing/2014/main" id="{A8534162-B6E2-4579-9DAD-AD8DE07459BC}"/>
              </a:ext>
            </a:extLst>
          </p:cNvPr>
          <p:cNvSpPr/>
          <p:nvPr/>
        </p:nvSpPr>
        <p:spPr>
          <a:xfrm>
            <a:off x="2920212" y="2676474"/>
            <a:ext cx="1752042" cy="2172646"/>
          </a:xfrm>
          <a:prstGeom prst="rect">
            <a:avLst/>
          </a:prstGeom>
        </p:spPr>
        <p:txBody>
          <a:bodyPr wrap="square" lIns="0" tIns="0" rIns="0" bIns="0" anchor="t">
            <a:spAutoFit/>
          </a:bodyPr>
          <a:lstStyle/>
          <a:p>
            <a:pPr marL="285750" indent="-285750">
              <a:lnSpc>
                <a:spcPts val="1900"/>
              </a:lnSpc>
              <a:buFont typeface="Arial" panose="020B0604020202020204" pitchFamily="34" charset="0"/>
              <a:buChar char="•"/>
            </a:pPr>
            <a:r>
              <a:rPr lang="en-US" sz="1400" dirty="0"/>
              <a:t>Developed the ETL process.</a:t>
            </a:r>
          </a:p>
          <a:p>
            <a:pPr marL="285750" indent="-285750">
              <a:lnSpc>
                <a:spcPts val="1900"/>
              </a:lnSpc>
              <a:buFont typeface="Arial" panose="020B0604020202020204" pitchFamily="34" charset="0"/>
              <a:buChar char="•"/>
            </a:pPr>
            <a:r>
              <a:rPr lang="en-US" sz="1400" dirty="0"/>
              <a:t> Cleaned and validated data</a:t>
            </a:r>
          </a:p>
          <a:p>
            <a:pPr marL="285750" indent="-285750">
              <a:lnSpc>
                <a:spcPts val="1900"/>
              </a:lnSpc>
              <a:buFont typeface="Arial" panose="020B0604020202020204" pitchFamily="34" charset="0"/>
              <a:buChar char="•"/>
            </a:pPr>
            <a:r>
              <a:rPr lang="en-US" sz="1400" dirty="0"/>
              <a:t> Created a consistent, transformed dataset ready for analysis.</a:t>
            </a:r>
            <a:endParaRPr lang="en-US" sz="1400" dirty="0">
              <a:solidFill>
                <a:schemeClr val="bg1"/>
              </a:solidFill>
              <a:cs typeface="Segoe UI" panose="020B0502040204020203" pitchFamily="34" charset="0"/>
            </a:endParaRPr>
          </a:p>
        </p:txBody>
      </p:sp>
      <p:sp>
        <p:nvSpPr>
          <p:cNvPr id="53" name="Rectangle 52">
            <a:extLst>
              <a:ext uri="{FF2B5EF4-FFF2-40B4-BE49-F238E27FC236}">
                <a16:creationId xmlns:a16="http://schemas.microsoft.com/office/drawing/2014/main" id="{E1535E1C-6EBC-45D8-BCE1-D5B947A61FB6}"/>
              </a:ext>
            </a:extLst>
          </p:cNvPr>
          <p:cNvSpPr/>
          <p:nvPr/>
        </p:nvSpPr>
        <p:spPr>
          <a:xfrm>
            <a:off x="5703497" y="2818873"/>
            <a:ext cx="1752042" cy="2416302"/>
          </a:xfrm>
          <a:prstGeom prst="rect">
            <a:avLst/>
          </a:prstGeom>
        </p:spPr>
        <p:txBody>
          <a:bodyPr wrap="square" lIns="0" tIns="0" rIns="0" bIns="0" anchor="t">
            <a:spAutoFit/>
          </a:bodyPr>
          <a:lstStyle/>
          <a:p>
            <a:pPr marL="285750" indent="-285750">
              <a:lnSpc>
                <a:spcPts val="1900"/>
              </a:lnSpc>
              <a:buFont typeface="Arial" panose="020B0604020202020204" pitchFamily="34" charset="0"/>
              <a:buChar char="•"/>
            </a:pPr>
            <a:r>
              <a:rPr lang="en-US" sz="1400" dirty="0"/>
              <a:t>Implemented baseline models including ARIMA, SARIMAX, VAR, and Random Forest, </a:t>
            </a:r>
          </a:p>
          <a:p>
            <a:pPr marL="285750" indent="-285750">
              <a:lnSpc>
                <a:spcPts val="1900"/>
              </a:lnSpc>
              <a:buFont typeface="Arial" panose="020B0604020202020204" pitchFamily="34" charset="0"/>
              <a:buChar char="•"/>
            </a:pPr>
            <a:r>
              <a:rPr lang="en-US" sz="1400" dirty="0"/>
              <a:t>Tested early results, Identified seasonal and long-term tourism patterns.</a:t>
            </a:r>
            <a:endParaRPr lang="en-US" sz="1400" dirty="0">
              <a:solidFill>
                <a:schemeClr val="bg1"/>
              </a:solidFill>
              <a:cs typeface="Segoe UI" panose="020B0502040204020203" pitchFamily="34" charset="0"/>
            </a:endParaRPr>
          </a:p>
        </p:txBody>
      </p:sp>
      <p:sp>
        <p:nvSpPr>
          <p:cNvPr id="54" name="Rectangle 53">
            <a:extLst>
              <a:ext uri="{FF2B5EF4-FFF2-40B4-BE49-F238E27FC236}">
                <a16:creationId xmlns:a16="http://schemas.microsoft.com/office/drawing/2014/main" id="{28FF18A5-7B4E-4493-B38D-E732E033F82F}"/>
              </a:ext>
            </a:extLst>
          </p:cNvPr>
          <p:cNvSpPr/>
          <p:nvPr/>
        </p:nvSpPr>
        <p:spPr>
          <a:xfrm>
            <a:off x="7713475" y="2940701"/>
            <a:ext cx="1752042" cy="2172646"/>
          </a:xfrm>
          <a:prstGeom prst="rect">
            <a:avLst/>
          </a:prstGeom>
        </p:spPr>
        <p:txBody>
          <a:bodyPr wrap="square" lIns="0" tIns="0" rIns="0" bIns="0" anchor="t">
            <a:spAutoFit/>
          </a:bodyPr>
          <a:lstStyle/>
          <a:p>
            <a:pPr marL="285750" indent="-285750">
              <a:lnSpc>
                <a:spcPts val="1900"/>
              </a:lnSpc>
              <a:buFont typeface="Arial" panose="020B0604020202020204" pitchFamily="34" charset="0"/>
              <a:buChar char="•"/>
            </a:pPr>
            <a:r>
              <a:rPr lang="en-US" sz="1400" dirty="0"/>
              <a:t>Improved  model accuracy through cross-validation,</a:t>
            </a:r>
          </a:p>
          <a:p>
            <a:pPr marL="285750" indent="-285750">
              <a:lnSpc>
                <a:spcPts val="1900"/>
              </a:lnSpc>
              <a:buFont typeface="Arial" panose="020B0604020202020204" pitchFamily="34" charset="0"/>
              <a:buChar char="•"/>
            </a:pPr>
            <a:r>
              <a:rPr lang="en-US" sz="1400" dirty="0"/>
              <a:t>Developed initial Power BI prototypes for trend analysis and performance evaluation</a:t>
            </a:r>
          </a:p>
        </p:txBody>
      </p:sp>
      <p:sp>
        <p:nvSpPr>
          <p:cNvPr id="3" name="Trapezoid 2">
            <a:extLst>
              <a:ext uri="{FF2B5EF4-FFF2-40B4-BE49-F238E27FC236}">
                <a16:creationId xmlns:a16="http://schemas.microsoft.com/office/drawing/2014/main" id="{1A6A0FF2-2CF5-3BE2-1FC4-B49EA6D0790B}"/>
              </a:ext>
              <a:ext uri="{C183D7F6-B498-43B3-948B-1728B52AA6E4}">
                <adec:decorative xmlns:adec="http://schemas.microsoft.com/office/drawing/2017/decorative" val="1"/>
              </a:ext>
            </a:extLst>
          </p:cNvPr>
          <p:cNvSpPr/>
          <p:nvPr/>
        </p:nvSpPr>
        <p:spPr>
          <a:xfrm rot="5400000">
            <a:off x="8879513" y="2727496"/>
            <a:ext cx="4105902" cy="2136530"/>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7D4B1ACE-687D-C270-ED4E-37C9F822DE29}"/>
              </a:ext>
            </a:extLst>
          </p:cNvPr>
          <p:cNvSpPr/>
          <p:nvPr/>
        </p:nvSpPr>
        <p:spPr>
          <a:xfrm>
            <a:off x="9926232" y="2184031"/>
            <a:ext cx="1945829" cy="984885"/>
          </a:xfrm>
          <a:prstGeom prst="rect">
            <a:avLst/>
          </a:prstGeom>
        </p:spPr>
        <p:txBody>
          <a:bodyPr wrap="square" lIns="0" tIns="0" rIns="0" bIns="0">
            <a:spAutoFit/>
          </a:bodyPr>
          <a:lstStyle/>
          <a:p>
            <a:pPr algn="ctr"/>
            <a:r>
              <a:rPr lang="en-NZ" sz="1600" b="1" dirty="0">
                <a:solidFill>
                  <a:schemeClr val="bg1"/>
                </a:solidFill>
              </a:rPr>
              <a:t>Sprint 5: </a:t>
            </a:r>
            <a:r>
              <a:rPr lang="en-US" sz="1600" dirty="0">
                <a:solidFill>
                  <a:schemeClr val="bg1"/>
                </a:solidFill>
              </a:rPr>
              <a:t>Final testing, validation, and presentation preparation</a:t>
            </a:r>
            <a:endParaRPr lang="en-US" sz="1600" b="1" dirty="0">
              <a:solidFill>
                <a:schemeClr val="bg1"/>
              </a:solidFill>
            </a:endParaRPr>
          </a:p>
        </p:txBody>
      </p:sp>
      <p:sp>
        <p:nvSpPr>
          <p:cNvPr id="6" name="Rectangle 5">
            <a:extLst>
              <a:ext uri="{FF2B5EF4-FFF2-40B4-BE49-F238E27FC236}">
                <a16:creationId xmlns:a16="http://schemas.microsoft.com/office/drawing/2014/main" id="{C10C4BB4-17FE-BC1C-09DB-9CDBE6A58A0D}"/>
              </a:ext>
            </a:extLst>
          </p:cNvPr>
          <p:cNvSpPr/>
          <p:nvPr/>
        </p:nvSpPr>
        <p:spPr>
          <a:xfrm>
            <a:off x="10186221" y="3200283"/>
            <a:ext cx="1752042" cy="2416302"/>
          </a:xfrm>
          <a:prstGeom prst="rect">
            <a:avLst/>
          </a:prstGeom>
        </p:spPr>
        <p:txBody>
          <a:bodyPr wrap="square" lIns="0" tIns="0" rIns="0" bIns="0" anchor="t">
            <a:spAutoFit/>
          </a:bodyPr>
          <a:lstStyle/>
          <a:p>
            <a:pPr marL="285750" indent="-285750">
              <a:lnSpc>
                <a:spcPts val="1900"/>
              </a:lnSpc>
              <a:buFont typeface="Arial" panose="020B0604020202020204" pitchFamily="34" charset="0"/>
              <a:buChar char="•"/>
            </a:pPr>
            <a:r>
              <a:rPr lang="en-US" sz="1400" dirty="0"/>
              <a:t>Conducted extensive model evaluation and comparison</a:t>
            </a:r>
          </a:p>
          <a:p>
            <a:pPr marL="285750" indent="-285750">
              <a:lnSpc>
                <a:spcPts val="1900"/>
              </a:lnSpc>
              <a:buFont typeface="Arial" panose="020B0604020202020204" pitchFamily="34" charset="0"/>
              <a:buChar char="•"/>
            </a:pPr>
            <a:r>
              <a:rPr lang="en-US" sz="1400" dirty="0"/>
              <a:t>Finalised and polished the Power BI dashboards</a:t>
            </a:r>
          </a:p>
          <a:p>
            <a:pPr marL="285750" indent="-285750">
              <a:lnSpc>
                <a:spcPts val="1900"/>
              </a:lnSpc>
              <a:buFont typeface="Arial" panose="020B0604020202020204" pitchFamily="34" charset="0"/>
              <a:buChar char="•"/>
            </a:pPr>
            <a:r>
              <a:rPr lang="en-NZ" sz="1400" dirty="0"/>
              <a:t>Final deliverables reports</a:t>
            </a:r>
            <a:endParaRPr lang="en-US" sz="1400" dirty="0"/>
          </a:p>
          <a:p>
            <a:pPr marL="285750" indent="-285750">
              <a:lnSpc>
                <a:spcPts val="1900"/>
              </a:lnSpc>
              <a:buFont typeface="Arial" panose="020B0604020202020204" pitchFamily="34" charset="0"/>
              <a:buChar char="•"/>
            </a:pPr>
            <a:endParaRPr lang="en-US" sz="1400" dirty="0"/>
          </a:p>
        </p:txBody>
      </p:sp>
    </p:spTree>
    <p:extLst>
      <p:ext uri="{BB962C8B-B14F-4D97-AF65-F5344CB8AC3E}">
        <p14:creationId xmlns:p14="http://schemas.microsoft.com/office/powerpoint/2010/main" val="822569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8C503-5B9C-7E0B-D7EE-102A0461C4D5}"/>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4D2423B-978A-B6D1-0893-42C3628E2123}"/>
              </a:ext>
              <a:ext uri="{C183D7F6-B498-43B3-948B-1728B52AA6E4}">
                <adec:decorative xmlns:adec="http://schemas.microsoft.com/office/drawing/2017/decorative" val="1"/>
              </a:ext>
            </a:extLst>
          </p:cNvPr>
          <p:cNvCxnSpPr>
            <a:cxnSpLocks/>
          </p:cNvCxnSpPr>
          <p:nvPr/>
        </p:nvCxnSpPr>
        <p:spPr>
          <a:xfrm>
            <a:off x="8134709" y="522898"/>
            <a:ext cx="4057291"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7B630EF3-2825-A2CF-D42A-DA76BF2C6FF0}"/>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 8. Research and Tools </a:t>
            </a: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659C27DA-878E-FFA6-9799-60494FB4FBEE}"/>
              </a:ext>
              <a:ext uri="{C183D7F6-B498-43B3-948B-1728B52AA6E4}">
                <adec:decorative xmlns:adec="http://schemas.microsoft.com/office/drawing/2017/decorative" val="1"/>
              </a:ext>
            </a:extLst>
          </p:cNvPr>
          <p:cNvCxnSpPr>
            <a:cxnSpLocks/>
          </p:cNvCxnSpPr>
          <p:nvPr/>
        </p:nvCxnSpPr>
        <p:spPr>
          <a:xfrm>
            <a:off x="0" y="522898"/>
            <a:ext cx="409754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F08A0371-796B-5623-8D76-79500391C634}"/>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251DF15E-1FED-B606-2202-955BF4617774}"/>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CF8C0514-7D01-99CA-0EA6-724C27F6DA7F}"/>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E26AF0B4-C10E-E269-65CA-1B05A6DB2D2E}"/>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8745B810-A8AA-26FB-5A59-FE536B332394}"/>
              </a:ext>
            </a:extLst>
          </p:cNvPr>
          <p:cNvSpPr txBox="1"/>
          <p:nvPr/>
        </p:nvSpPr>
        <p:spPr>
          <a:xfrm>
            <a:off x="228600" y="1305342"/>
            <a:ext cx="11667226" cy="5016758"/>
          </a:xfrm>
          <a:prstGeom prst="rect">
            <a:avLst/>
          </a:prstGeom>
          <a:noFill/>
        </p:spPr>
        <p:txBody>
          <a:bodyPr wrap="square">
            <a:spAutoFit/>
          </a:bodyPr>
          <a:lstStyle/>
          <a:p>
            <a:pPr>
              <a:buNone/>
            </a:pPr>
            <a:r>
              <a:rPr lang="en-US" sz="2000" dirty="0"/>
              <a:t>The project was supported by both research and the use of technical tools at each stage of development.</a:t>
            </a:r>
          </a:p>
          <a:p>
            <a:pPr>
              <a:buNone/>
            </a:pPr>
            <a:endParaRPr lang="en-US" sz="2000" dirty="0"/>
          </a:p>
          <a:p>
            <a:r>
              <a:rPr lang="en-US" sz="2000" b="1" dirty="0"/>
              <a:t>Research:</a:t>
            </a:r>
          </a:p>
          <a:p>
            <a:pPr marL="285750" indent="-285750">
              <a:buFont typeface="Arial" panose="020B0604020202020204" pitchFamily="34" charset="0"/>
              <a:buChar char="•"/>
            </a:pPr>
            <a:r>
              <a:rPr lang="en-US" sz="2000" dirty="0"/>
              <a:t>Reviewed academic and industry papers on tourism demand forecasting.</a:t>
            </a:r>
          </a:p>
          <a:p>
            <a:pPr marL="285750" indent="-285750">
              <a:buFont typeface="Arial" panose="020B0604020202020204" pitchFamily="34" charset="0"/>
              <a:buChar char="•"/>
            </a:pPr>
            <a:r>
              <a:rPr lang="en-US" sz="2000" dirty="0"/>
              <a:t>Compared models such as ARIMA, SARIMAX, VAR, Random Forest to identify strengths and limitations.</a:t>
            </a:r>
          </a:p>
          <a:p>
            <a:pPr marL="285750" indent="-285750">
              <a:buFont typeface="Arial" panose="020B0604020202020204" pitchFamily="34" charset="0"/>
              <a:buChar char="•"/>
            </a:pPr>
            <a:r>
              <a:rPr lang="en-US" sz="2000" dirty="0"/>
              <a:t>Analysed official datasets from MBIE for trends, spending patterns, and post-COVID recovery insights.</a:t>
            </a:r>
          </a:p>
          <a:p>
            <a:pPr marL="285750" indent="-285750">
              <a:buFont typeface="Arial" panose="020B0604020202020204" pitchFamily="34" charset="0"/>
              <a:buChar char="•"/>
            </a:pPr>
            <a:r>
              <a:rPr lang="en-US" sz="2000" dirty="0"/>
              <a:t>Used findings to guide model selection, tuning, and evaluation criteria.</a:t>
            </a:r>
          </a:p>
          <a:p>
            <a:endParaRPr lang="en-US" sz="2000" b="1" dirty="0"/>
          </a:p>
          <a:p>
            <a:r>
              <a:rPr lang="en-US" sz="2000" b="1" dirty="0"/>
              <a:t>Tools:</a:t>
            </a:r>
          </a:p>
          <a:p>
            <a:pPr marL="285750" indent="-285750">
              <a:buFont typeface="Arial" panose="020B0604020202020204" pitchFamily="34" charset="0"/>
              <a:buChar char="•"/>
            </a:pPr>
            <a:r>
              <a:rPr lang="en-US" sz="2000" dirty="0"/>
              <a:t>Python – for data cleaning, transformation, and model development.</a:t>
            </a:r>
          </a:p>
          <a:p>
            <a:pPr marL="285750" indent="-285750">
              <a:buFont typeface="Arial" panose="020B0604020202020204" pitchFamily="34" charset="0"/>
              <a:buChar char="•"/>
            </a:pPr>
            <a:r>
              <a:rPr lang="en-US" sz="2000" dirty="0"/>
              <a:t>Power BI – for interactive dashboards and trend visualisation.</a:t>
            </a:r>
          </a:p>
          <a:p>
            <a:pPr marL="285750" indent="-285750">
              <a:buFont typeface="Arial" panose="020B0604020202020204" pitchFamily="34" charset="0"/>
              <a:buChar char="•"/>
            </a:pPr>
            <a:r>
              <a:rPr lang="en-US" sz="2000" dirty="0"/>
              <a:t>OneDrive – for file sharing and collaboration.</a:t>
            </a:r>
          </a:p>
          <a:p>
            <a:pPr marL="285750" indent="-285750">
              <a:buFont typeface="Arial" panose="020B0604020202020204" pitchFamily="34" charset="0"/>
              <a:buChar char="•"/>
            </a:pPr>
            <a:r>
              <a:rPr lang="en-US" sz="2000" dirty="0"/>
              <a:t>Trello – for sprint tracking, task management, and progress monitoring.</a:t>
            </a:r>
          </a:p>
          <a:p>
            <a:pPr>
              <a:buNone/>
            </a:pPr>
            <a:endParaRPr lang="en-US" sz="2000" dirty="0"/>
          </a:p>
          <a:p>
            <a:pPr>
              <a:buNone/>
            </a:pPr>
            <a:endParaRPr lang="en-US" sz="2000" dirty="0"/>
          </a:p>
          <a:p>
            <a:pPr>
              <a:buNone/>
            </a:pPr>
            <a:endParaRPr lang="en-US" sz="2000" dirty="0"/>
          </a:p>
        </p:txBody>
      </p:sp>
    </p:spTree>
    <p:extLst>
      <p:ext uri="{BB962C8B-B14F-4D97-AF65-F5344CB8AC3E}">
        <p14:creationId xmlns:p14="http://schemas.microsoft.com/office/powerpoint/2010/main" val="3042496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488C9-62EF-372E-7726-2C21D504084D}"/>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EE651CA7-98DB-AE55-8E6A-5E9C9138FA6E}"/>
              </a:ext>
              <a:ext uri="{C183D7F6-B498-43B3-948B-1728B52AA6E4}">
                <adec:decorative xmlns:adec="http://schemas.microsoft.com/office/drawing/2017/decorative" val="1"/>
              </a:ext>
            </a:extLst>
          </p:cNvPr>
          <p:cNvCxnSpPr>
            <a:cxnSpLocks/>
          </p:cNvCxnSpPr>
          <p:nvPr/>
        </p:nvCxnSpPr>
        <p:spPr>
          <a:xfrm>
            <a:off x="8695426" y="522898"/>
            <a:ext cx="349657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9AC0A27-9655-C7D3-AE30-87F7A1AFAD64}"/>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t>9. How the project was tested </a:t>
            </a:r>
            <a:br>
              <a:rPr lang="en-US" sz="2800" b="1" dirty="0"/>
            </a:br>
            <a:endParaRPr lang="en-US" sz="2800" b="1" dirty="0"/>
          </a:p>
        </p:txBody>
      </p:sp>
      <p:cxnSp>
        <p:nvCxnSpPr>
          <p:cNvPr id="14" name="Straight Connector 13">
            <a:extLst>
              <a:ext uri="{FF2B5EF4-FFF2-40B4-BE49-F238E27FC236}">
                <a16:creationId xmlns:a16="http://schemas.microsoft.com/office/drawing/2014/main" id="{27CE01CC-D7F6-B7CA-0C51-9457C534A2EA}"/>
              </a:ext>
              <a:ext uri="{C183D7F6-B498-43B3-948B-1728B52AA6E4}">
                <adec:decorative xmlns:adec="http://schemas.microsoft.com/office/drawing/2017/decorative" val="1"/>
              </a:ext>
            </a:extLst>
          </p:cNvPr>
          <p:cNvCxnSpPr>
            <a:cxnSpLocks/>
          </p:cNvCxnSpPr>
          <p:nvPr/>
        </p:nvCxnSpPr>
        <p:spPr>
          <a:xfrm>
            <a:off x="0" y="522898"/>
            <a:ext cx="318314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8E0DA953-D0FF-C6DC-349D-4DB2CF46396E}"/>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6BAD4E46-8F0A-2271-BF39-B6B087BEC0D9}"/>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B5B787B7-26A7-5D6B-6E7E-60F1CAD02CEE}"/>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71032ED4-412D-F9BD-3DD5-DA4FD923317D}"/>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FABD232B-4E95-A61A-9505-BDD74A81E06B}"/>
              </a:ext>
            </a:extLst>
          </p:cNvPr>
          <p:cNvSpPr txBox="1"/>
          <p:nvPr/>
        </p:nvSpPr>
        <p:spPr>
          <a:xfrm>
            <a:off x="228600" y="1305342"/>
            <a:ext cx="11667226" cy="5632311"/>
          </a:xfrm>
          <a:prstGeom prst="rect">
            <a:avLst/>
          </a:prstGeom>
          <a:noFill/>
        </p:spPr>
        <p:txBody>
          <a:bodyPr wrap="square">
            <a:spAutoFit/>
          </a:bodyPr>
          <a:lstStyle/>
          <a:p>
            <a:r>
              <a:rPr lang="en-US" sz="2000" dirty="0"/>
              <a:t>Data and model testing was conducted to ensure accuracy, consistency, and reliability throughout the project.</a:t>
            </a:r>
          </a:p>
          <a:p>
            <a:endParaRPr lang="en-US" sz="2000" dirty="0"/>
          </a:p>
          <a:p>
            <a:r>
              <a:rPr lang="en-US" sz="2000" b="1" dirty="0"/>
              <a:t>Model Testing:</a:t>
            </a:r>
            <a:endParaRPr lang="en-US" sz="2000" dirty="0"/>
          </a:p>
          <a:p>
            <a:pPr marL="342900" indent="-342900">
              <a:buFont typeface="Arial" panose="020B0604020202020204" pitchFamily="34" charset="0"/>
              <a:buChar char="•"/>
            </a:pPr>
            <a:r>
              <a:rPr lang="en-US" sz="2000" dirty="0"/>
              <a:t>Measured forecasting accuracy using RMSE, MAE, and MAPE.</a:t>
            </a:r>
          </a:p>
          <a:p>
            <a:pPr marL="342900" indent="-342900">
              <a:buFont typeface="Arial" panose="020B0604020202020204" pitchFamily="34" charset="0"/>
              <a:buChar char="•"/>
            </a:pPr>
            <a:r>
              <a:rPr lang="en-US" sz="2000" dirty="0"/>
              <a:t>Compared results across ARIMA, SARIMAX, VAR, and Random Forest models.</a:t>
            </a:r>
          </a:p>
          <a:p>
            <a:pPr marL="342900" indent="-342900">
              <a:buFont typeface="Arial" panose="020B0604020202020204" pitchFamily="34" charset="0"/>
              <a:buChar char="•"/>
            </a:pPr>
            <a:r>
              <a:rPr lang="en-US" sz="2000" dirty="0"/>
              <a:t>Applied cross-validation to check model stability and avoid overfitting.</a:t>
            </a:r>
          </a:p>
          <a:p>
            <a:pPr marL="342900" indent="-342900">
              <a:buFont typeface="Arial" panose="020B0604020202020204" pitchFamily="34" charset="0"/>
              <a:buChar char="•"/>
            </a:pPr>
            <a:r>
              <a:rPr lang="en-US" sz="2000" dirty="0"/>
              <a:t>Assessed prediction intervals to understand confidence levels in forecasts.</a:t>
            </a:r>
          </a:p>
          <a:p>
            <a:r>
              <a:rPr lang="en-US" sz="2000" b="1" dirty="0"/>
              <a:t>Data Validation:</a:t>
            </a:r>
            <a:endParaRPr lang="en-US" sz="2000" dirty="0"/>
          </a:p>
          <a:p>
            <a:pPr marL="342900" indent="-342900">
              <a:buFont typeface="Arial" panose="020B0604020202020204" pitchFamily="34" charset="0"/>
              <a:buChar char="•"/>
            </a:pPr>
            <a:r>
              <a:rPr lang="en-US" sz="2000" dirty="0"/>
              <a:t>Verified dataset quality after cleaning and transformation.</a:t>
            </a:r>
          </a:p>
          <a:p>
            <a:pPr marL="342900" indent="-342900">
              <a:buFont typeface="Arial" panose="020B0604020202020204" pitchFamily="34" charset="0"/>
              <a:buChar char="•"/>
            </a:pPr>
            <a:r>
              <a:rPr lang="en-US" sz="2000" dirty="0"/>
              <a:t>Checked for missing, duplicated, or inconsistent records.</a:t>
            </a:r>
          </a:p>
          <a:p>
            <a:pPr marL="342900" indent="-342900">
              <a:buFont typeface="Arial" panose="020B0604020202020204" pitchFamily="34" charset="0"/>
              <a:buChar char="•"/>
            </a:pPr>
            <a:r>
              <a:rPr lang="en-US" sz="2000" dirty="0"/>
              <a:t>Ensured correct time-series alignment and date formatting before model training.</a:t>
            </a:r>
          </a:p>
          <a:p>
            <a:r>
              <a:rPr lang="en-US" sz="2000" b="1" dirty="0"/>
              <a:t>Dashboard Verification:</a:t>
            </a:r>
            <a:endParaRPr lang="en-US" sz="2000" dirty="0"/>
          </a:p>
          <a:p>
            <a:pPr marL="342900" indent="-342900">
              <a:buFont typeface="Arial" panose="020B0604020202020204" pitchFamily="34" charset="0"/>
              <a:buChar char="•"/>
            </a:pPr>
            <a:r>
              <a:rPr lang="en-US" sz="2000" dirty="0"/>
              <a:t>Reviewed Power BI visuals for accuracy and responsiveness.</a:t>
            </a:r>
          </a:p>
          <a:p>
            <a:pPr marL="342900" indent="-342900">
              <a:buFont typeface="Arial" panose="020B0604020202020204" pitchFamily="34" charset="0"/>
              <a:buChar char="•"/>
            </a:pPr>
            <a:r>
              <a:rPr lang="en-US" sz="2000" dirty="0"/>
              <a:t>Validated all graphs, filters, and summary metrics against model results.</a:t>
            </a:r>
          </a:p>
          <a:p>
            <a:pPr>
              <a:buNone/>
            </a:pPr>
            <a:endParaRPr lang="en-US" sz="2000" dirty="0"/>
          </a:p>
          <a:p>
            <a:pPr>
              <a:buNone/>
            </a:pPr>
            <a:endParaRPr lang="en-US" sz="2000" dirty="0"/>
          </a:p>
          <a:p>
            <a:pPr>
              <a:buNone/>
            </a:pPr>
            <a:endParaRPr lang="en-US" sz="2000" dirty="0"/>
          </a:p>
        </p:txBody>
      </p:sp>
    </p:spTree>
    <p:extLst>
      <p:ext uri="{BB962C8B-B14F-4D97-AF65-F5344CB8AC3E}">
        <p14:creationId xmlns:p14="http://schemas.microsoft.com/office/powerpoint/2010/main" val="2880135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95E6E-1306-6163-4DB4-DEC533BCA2D3}"/>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E23F979-4F6D-8DC5-7A97-341D84904886}"/>
              </a:ext>
              <a:ext uri="{C183D7F6-B498-43B3-948B-1728B52AA6E4}">
                <adec:decorative xmlns:adec="http://schemas.microsoft.com/office/drawing/2017/decorative" val="1"/>
              </a:ext>
            </a:extLst>
          </p:cNvPr>
          <p:cNvCxnSpPr>
            <a:cxnSpLocks/>
          </p:cNvCxnSpPr>
          <p:nvPr/>
        </p:nvCxnSpPr>
        <p:spPr>
          <a:xfrm>
            <a:off x="8540151" y="522898"/>
            <a:ext cx="36518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E8049ED-CE18-2F9C-15DE-0A8C975E4A1A}"/>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10. Deliverables Completed </a:t>
            </a:r>
          </a:p>
        </p:txBody>
      </p:sp>
      <p:cxnSp>
        <p:nvCxnSpPr>
          <p:cNvPr id="14" name="Straight Connector 13">
            <a:extLst>
              <a:ext uri="{FF2B5EF4-FFF2-40B4-BE49-F238E27FC236}">
                <a16:creationId xmlns:a16="http://schemas.microsoft.com/office/drawing/2014/main" id="{8A264042-5C09-E008-B640-5D9BC1404098}"/>
              </a:ext>
              <a:ext uri="{C183D7F6-B498-43B3-948B-1728B52AA6E4}">
                <adec:decorative xmlns:adec="http://schemas.microsoft.com/office/drawing/2017/decorative" val="1"/>
              </a:ext>
            </a:extLst>
          </p:cNvPr>
          <p:cNvCxnSpPr>
            <a:cxnSpLocks/>
          </p:cNvCxnSpPr>
          <p:nvPr/>
        </p:nvCxnSpPr>
        <p:spPr>
          <a:xfrm>
            <a:off x="0" y="522898"/>
            <a:ext cx="366622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CE8FBCD9-0103-509B-198E-91B19EA95855}"/>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14780F13-6493-AFD4-CB51-A2B5CC76DA1F}"/>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A0DEC6A8-6790-57F2-274A-5D5B8A129225}"/>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218110A0-C33A-EF17-685C-95D6B32E2B2C}"/>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93A7ED7F-E519-27FF-2F06-775C838CE0CF}"/>
              </a:ext>
            </a:extLst>
          </p:cNvPr>
          <p:cNvSpPr txBox="1"/>
          <p:nvPr/>
        </p:nvSpPr>
        <p:spPr>
          <a:xfrm>
            <a:off x="228600" y="1305342"/>
            <a:ext cx="11667226" cy="4708981"/>
          </a:xfrm>
          <a:prstGeom prst="rect">
            <a:avLst/>
          </a:prstGeom>
          <a:noFill/>
        </p:spPr>
        <p:txBody>
          <a:bodyPr wrap="square">
            <a:spAutoFit/>
          </a:bodyPr>
          <a:lstStyle/>
          <a:p>
            <a:r>
              <a:rPr lang="en-US" sz="2000" dirty="0"/>
              <a:t>Successfully completed all deliverables outlined by Dr Trang Do, ensuring each aligned with project goals and client expectations.</a:t>
            </a:r>
          </a:p>
          <a:p>
            <a:endParaRPr lang="en-US" sz="2000" dirty="0"/>
          </a:p>
          <a:p>
            <a:r>
              <a:rPr lang="en-US" sz="2000" b="1" dirty="0"/>
              <a:t>Completed Deliverables:</a:t>
            </a:r>
          </a:p>
          <a:p>
            <a:endParaRPr lang="en-US" sz="2000" dirty="0"/>
          </a:p>
          <a:p>
            <a:r>
              <a:rPr lang="en-US" sz="2000" b="1" dirty="0"/>
              <a:t>1. Data Preparation:</a:t>
            </a:r>
            <a:r>
              <a:rPr lang="en-US" sz="2000" dirty="0"/>
              <a:t> Cleaned, transformed, and validated tourism datasets from MBIE and TEIC.</a:t>
            </a:r>
          </a:p>
          <a:p>
            <a:r>
              <a:rPr lang="en-US" sz="2000" b="1" dirty="0"/>
              <a:t>2. Forecasting Models:</a:t>
            </a:r>
            <a:r>
              <a:rPr lang="en-US" sz="2000" dirty="0"/>
              <a:t> Developed and compared ARIMA, SARIMAX, VAR, and Random Forest models for accurate tourism predictions.</a:t>
            </a:r>
          </a:p>
          <a:p>
            <a:r>
              <a:rPr lang="en-US" sz="2000" b="1" dirty="0"/>
              <a:t>3. Interactive Dashboard: </a:t>
            </a:r>
            <a:r>
              <a:rPr lang="en-US" sz="2000" dirty="0"/>
              <a:t>Designed a clear and functional Power BI dashboard for visualising processed and forecasted data.</a:t>
            </a:r>
          </a:p>
          <a:p>
            <a:r>
              <a:rPr lang="en-US" sz="2000" b="1" dirty="0"/>
              <a:t>4. Documentation:</a:t>
            </a:r>
            <a:r>
              <a:rPr lang="en-US" sz="2000" dirty="0"/>
              <a:t> Prepared full technical documentation covering research, methodology, results, and user guidance.</a:t>
            </a:r>
          </a:p>
          <a:p>
            <a:endParaRPr lang="en-US" sz="2000" dirty="0"/>
          </a:p>
          <a:p>
            <a:pPr>
              <a:buNone/>
            </a:pPr>
            <a:endParaRPr lang="en-US" sz="2000" dirty="0"/>
          </a:p>
          <a:p>
            <a:pPr>
              <a:buNone/>
            </a:pPr>
            <a:endParaRPr lang="en-US" sz="2000" dirty="0"/>
          </a:p>
        </p:txBody>
      </p:sp>
    </p:spTree>
    <p:extLst>
      <p:ext uri="{BB962C8B-B14F-4D97-AF65-F5344CB8AC3E}">
        <p14:creationId xmlns:p14="http://schemas.microsoft.com/office/powerpoint/2010/main" val="972142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DA80A-D448-D72A-15B5-2A31515AACA1}"/>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D94E5ED-2079-5F35-0A01-63097F9302B6}"/>
              </a:ext>
              <a:ext uri="{C183D7F6-B498-43B3-948B-1728B52AA6E4}">
                <adec:decorative xmlns:adec="http://schemas.microsoft.com/office/drawing/2017/decorative" val="1"/>
              </a:ext>
            </a:extLst>
          </p:cNvPr>
          <p:cNvCxnSpPr>
            <a:cxnSpLocks/>
          </p:cNvCxnSpPr>
          <p:nvPr/>
        </p:nvCxnSpPr>
        <p:spPr>
          <a:xfrm>
            <a:off x="10437962" y="522898"/>
            <a:ext cx="1754038"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6993E41E-6499-F11A-B0E8-17DDC6AC72A2}"/>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11. Model Comparison and Accuracy Evaluation</a:t>
            </a:r>
          </a:p>
        </p:txBody>
      </p:sp>
      <p:cxnSp>
        <p:nvCxnSpPr>
          <p:cNvPr id="14" name="Straight Connector 13">
            <a:extLst>
              <a:ext uri="{FF2B5EF4-FFF2-40B4-BE49-F238E27FC236}">
                <a16:creationId xmlns:a16="http://schemas.microsoft.com/office/drawing/2014/main" id="{EFDE0079-EBB5-5102-9C76-32F4B74093C1}"/>
              </a:ext>
              <a:ext uri="{C183D7F6-B498-43B3-948B-1728B52AA6E4}">
                <adec:decorative xmlns:adec="http://schemas.microsoft.com/office/drawing/2017/decorative" val="1"/>
              </a:ext>
            </a:extLst>
          </p:cNvPr>
          <p:cNvCxnSpPr>
            <a:cxnSpLocks/>
          </p:cNvCxnSpPr>
          <p:nvPr/>
        </p:nvCxnSpPr>
        <p:spPr>
          <a:xfrm>
            <a:off x="0" y="545464"/>
            <a:ext cx="173390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CA1BFF85-31DC-81A9-836F-BC5B3388FA64}"/>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EC597B39-0ED9-D727-80B1-C011A220041C}"/>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DA0E9BD8-D7D2-4024-21FF-9FA13C3E6FD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8A67D84F-F4FD-9445-FB5A-8DD2FADB7866}"/>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B14DC879-D118-3C09-87ED-D411125E109C}"/>
              </a:ext>
            </a:extLst>
          </p:cNvPr>
          <p:cNvSpPr txBox="1"/>
          <p:nvPr/>
        </p:nvSpPr>
        <p:spPr>
          <a:xfrm>
            <a:off x="228600" y="1305342"/>
            <a:ext cx="11667226" cy="1323439"/>
          </a:xfrm>
          <a:prstGeom prst="rect">
            <a:avLst/>
          </a:prstGeom>
          <a:noFill/>
        </p:spPr>
        <p:txBody>
          <a:bodyPr wrap="square">
            <a:spAutoFit/>
          </a:bodyPr>
          <a:lstStyle/>
          <a:p>
            <a:pPr>
              <a:buNone/>
            </a:pPr>
            <a:r>
              <a:rPr lang="en-US" sz="2000" dirty="0"/>
              <a:t>For the three-month forecasting of transaction spending by domestic and international tourists, four models,  ARIMA, Random Forest, SARIMAX, and VAR were applied. Among these, the ARIMA model demonstrated the highest accuracy, evaluated using a 12-month hold-out precision error method with metrics such as RMSE, MAE, MAPE, and </a:t>
            </a:r>
            <a:r>
              <a:rPr lang="en-US" sz="2000" dirty="0" err="1"/>
              <a:t>sMAPE</a:t>
            </a:r>
            <a:r>
              <a:rPr lang="en-US" sz="2000" dirty="0"/>
              <a:t>.</a:t>
            </a:r>
          </a:p>
        </p:txBody>
      </p:sp>
    </p:spTree>
    <p:extLst>
      <p:ext uri="{BB962C8B-B14F-4D97-AF65-F5344CB8AC3E}">
        <p14:creationId xmlns:p14="http://schemas.microsoft.com/office/powerpoint/2010/main" val="1572576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FC6AC-D081-16F5-B00E-F86D47C2632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60A51AA-768B-F536-5CE1-8A9A14785161}"/>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957E7F-6D49-9B2C-C1E3-1FC99365A80F}"/>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12.Three Months Transaction Card Spending Forecasting– Domestic Tourist -ARIMA Model</a:t>
            </a:r>
          </a:p>
        </p:txBody>
      </p:sp>
      <p:cxnSp>
        <p:nvCxnSpPr>
          <p:cNvPr id="14" name="Straight Connector 13">
            <a:extLst>
              <a:ext uri="{FF2B5EF4-FFF2-40B4-BE49-F238E27FC236}">
                <a16:creationId xmlns:a16="http://schemas.microsoft.com/office/drawing/2014/main" id="{635A840C-9433-6325-8535-D078BEC0EDD4}"/>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1FA65E94-932B-041B-13D4-35ED3D01C0C9}"/>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75E7309F-EF8D-7882-EB22-CD6AFC648B53}"/>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C08A5F08-FD21-856D-C23D-EB0E49E0C694}"/>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2B2C528D-EF66-9F52-B8EB-AD99E82406D6}"/>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2" name="Picture 1">
            <a:extLst>
              <a:ext uri="{FF2B5EF4-FFF2-40B4-BE49-F238E27FC236}">
                <a16:creationId xmlns:a16="http://schemas.microsoft.com/office/drawing/2014/main" id="{74555805-21BC-D914-D377-910A9CC0121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3864" y="1053924"/>
            <a:ext cx="7745963" cy="3168348"/>
          </a:xfrm>
          <a:prstGeom prst="rect">
            <a:avLst/>
          </a:prstGeom>
        </p:spPr>
      </p:pic>
      <p:pic>
        <p:nvPicPr>
          <p:cNvPr id="3" name="Content Placeholder 5">
            <a:extLst>
              <a:ext uri="{FF2B5EF4-FFF2-40B4-BE49-F238E27FC236}">
                <a16:creationId xmlns:a16="http://schemas.microsoft.com/office/drawing/2014/main" id="{1CF9F6B4-C20E-FCF3-F9E5-1DB4213670C4}"/>
              </a:ext>
            </a:extLst>
          </p:cNvPr>
          <p:cNvPicPr>
            <a:picLocks noGrp="1" noChangeAspect="1"/>
          </p:cNvPicPr>
          <p:nvPr/>
        </p:nvPicPr>
        <p:blipFill>
          <a:blip r:embed="rId4" cstate="email">
            <a:extLst>
              <a:ext uri="{28A0092B-C50C-407E-A947-70E740481C1C}">
                <a14:useLocalDpi xmlns:a14="http://schemas.microsoft.com/office/drawing/2010/main"/>
              </a:ext>
            </a:extLst>
          </a:blip>
          <a:stretch>
            <a:fillRect/>
          </a:stretch>
        </p:blipFill>
        <p:spPr>
          <a:xfrm>
            <a:off x="1999171" y="4868516"/>
            <a:ext cx="7814150" cy="1871120"/>
          </a:xfrm>
          <a:prstGeom prst="rect">
            <a:avLst/>
          </a:prstGeom>
        </p:spPr>
      </p:pic>
      <p:sp>
        <p:nvSpPr>
          <p:cNvPr id="6" name="TextBox 5">
            <a:extLst>
              <a:ext uri="{FF2B5EF4-FFF2-40B4-BE49-F238E27FC236}">
                <a16:creationId xmlns:a16="http://schemas.microsoft.com/office/drawing/2014/main" id="{333E4CA4-4F45-A46D-C8D0-0B697EC58F4F}"/>
              </a:ext>
            </a:extLst>
          </p:cNvPr>
          <p:cNvSpPr txBox="1"/>
          <p:nvPr/>
        </p:nvSpPr>
        <p:spPr>
          <a:xfrm>
            <a:off x="1999171" y="4362600"/>
            <a:ext cx="7248346" cy="369332"/>
          </a:xfrm>
          <a:prstGeom prst="rect">
            <a:avLst/>
          </a:prstGeom>
          <a:noFill/>
        </p:spPr>
        <p:txBody>
          <a:bodyPr wrap="square">
            <a:spAutoFit/>
          </a:bodyPr>
          <a:lstStyle/>
          <a:p>
            <a:r>
              <a:rPr lang="en-US" sz="1800" dirty="0"/>
              <a:t>Hold-Out Accuracy – Domestic Tourist</a:t>
            </a:r>
            <a:endParaRPr lang="en-NZ" dirty="0"/>
          </a:p>
        </p:txBody>
      </p:sp>
    </p:spTree>
    <p:extLst>
      <p:ext uri="{BB962C8B-B14F-4D97-AF65-F5344CB8AC3E}">
        <p14:creationId xmlns:p14="http://schemas.microsoft.com/office/powerpoint/2010/main" val="769120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90A9C-4366-4086-D736-79630A44F847}"/>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A4D8799-6BA2-D30A-62A2-68277E4826FC}"/>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37D3833-B747-61A6-A90B-6CCE2BD27E1B}"/>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13. Three Months Transaction Card Spending Forecasting – International Tourist - ARIMA Model</a:t>
            </a:r>
          </a:p>
        </p:txBody>
      </p:sp>
      <p:cxnSp>
        <p:nvCxnSpPr>
          <p:cNvPr id="14" name="Straight Connector 13">
            <a:extLst>
              <a:ext uri="{FF2B5EF4-FFF2-40B4-BE49-F238E27FC236}">
                <a16:creationId xmlns:a16="http://schemas.microsoft.com/office/drawing/2014/main" id="{BF1BF9F0-A660-1AA4-3141-FAE96443F300}"/>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6129AF38-DCCF-10A8-CDE5-E644E2C256AE}"/>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054D3F88-F004-DF4B-B063-1D673D6CB3B5}"/>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47B1747C-143A-A1E2-9613-3E4CA611B188}"/>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FA179196-E524-BB2D-B481-28154ECA6DEF}"/>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532B96F0-48BB-F732-4027-C767DE7416B5}"/>
              </a:ext>
            </a:extLst>
          </p:cNvPr>
          <p:cNvSpPr txBox="1"/>
          <p:nvPr/>
        </p:nvSpPr>
        <p:spPr>
          <a:xfrm>
            <a:off x="1930159" y="4533032"/>
            <a:ext cx="7248346" cy="369332"/>
          </a:xfrm>
          <a:prstGeom prst="rect">
            <a:avLst/>
          </a:prstGeom>
          <a:noFill/>
        </p:spPr>
        <p:txBody>
          <a:bodyPr wrap="square">
            <a:spAutoFit/>
          </a:bodyPr>
          <a:lstStyle/>
          <a:p>
            <a:r>
              <a:rPr lang="en-US" sz="1800" dirty="0"/>
              <a:t>Hold-Out Accuracy – Internationa</a:t>
            </a:r>
            <a:r>
              <a:rPr lang="en-US" dirty="0"/>
              <a:t>l</a:t>
            </a:r>
            <a:r>
              <a:rPr lang="en-US" sz="1800" dirty="0"/>
              <a:t> Tourist</a:t>
            </a:r>
            <a:endParaRPr lang="en-NZ" dirty="0"/>
          </a:p>
        </p:txBody>
      </p:sp>
      <p:pic>
        <p:nvPicPr>
          <p:cNvPr id="5" name="Content Placeholder 4">
            <a:extLst>
              <a:ext uri="{FF2B5EF4-FFF2-40B4-BE49-F238E27FC236}">
                <a16:creationId xmlns:a16="http://schemas.microsoft.com/office/drawing/2014/main" id="{C05EE349-3701-F99D-7D97-DB58EA42C7D4}"/>
              </a:ext>
            </a:extLst>
          </p:cNvPr>
          <p:cNvPicPr>
            <a:picLocks noGrp="1" noChangeAspect="1"/>
          </p:cNvPicPr>
          <p:nvPr/>
        </p:nvPicPr>
        <p:blipFill>
          <a:blip r:embed="rId3" cstate="email">
            <a:extLst>
              <a:ext uri="{28A0092B-C50C-407E-A947-70E740481C1C}">
                <a14:useLocalDpi xmlns:a14="http://schemas.microsoft.com/office/drawing/2010/main"/>
              </a:ext>
            </a:extLst>
          </a:blip>
          <a:stretch>
            <a:fillRect/>
          </a:stretch>
        </p:blipFill>
        <p:spPr>
          <a:xfrm>
            <a:off x="1493058" y="966097"/>
            <a:ext cx="8530836" cy="3615017"/>
          </a:xfrm>
          <a:prstGeom prst="rect">
            <a:avLst/>
          </a:prstGeom>
        </p:spPr>
      </p:pic>
      <p:pic>
        <p:nvPicPr>
          <p:cNvPr id="7" name="Content Placeholder 5">
            <a:extLst>
              <a:ext uri="{FF2B5EF4-FFF2-40B4-BE49-F238E27FC236}">
                <a16:creationId xmlns:a16="http://schemas.microsoft.com/office/drawing/2014/main" id="{70462D89-957F-A681-BEFE-E948E6AA7B1C}"/>
              </a:ext>
            </a:extLst>
          </p:cNvPr>
          <p:cNvPicPr>
            <a:picLocks noGrp="1" noChangeAspect="1"/>
          </p:cNvPicPr>
          <p:nvPr/>
        </p:nvPicPr>
        <p:blipFill>
          <a:blip r:embed="rId4" cstate="email">
            <a:extLst>
              <a:ext uri="{28A0092B-C50C-407E-A947-70E740481C1C}">
                <a14:useLocalDpi xmlns:a14="http://schemas.microsoft.com/office/drawing/2010/main"/>
              </a:ext>
            </a:extLst>
          </a:blip>
          <a:stretch>
            <a:fillRect/>
          </a:stretch>
        </p:blipFill>
        <p:spPr>
          <a:xfrm>
            <a:off x="2366866" y="4950622"/>
            <a:ext cx="5392947" cy="1882561"/>
          </a:xfrm>
          <a:prstGeom prst="rect">
            <a:avLst/>
          </a:prstGeom>
        </p:spPr>
      </p:pic>
    </p:spTree>
    <p:extLst>
      <p:ext uri="{BB962C8B-B14F-4D97-AF65-F5344CB8AC3E}">
        <p14:creationId xmlns:p14="http://schemas.microsoft.com/office/powerpoint/2010/main" val="2809105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2FE59-1868-A0F8-C085-08C7ECC99040}"/>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E15B8A3D-7BEE-A34C-14B9-F2B0FC4DD2A6}"/>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7579A222-F540-C6C0-22EE-2FA10976087B}"/>
              </a:ext>
            </a:extLst>
          </p:cNvPr>
          <p:cNvSpPr txBox="1">
            <a:spLocks/>
          </p:cNvSpPr>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14. Three Months Transaction Card Spend Forecasting – Domestic Tourist</a:t>
            </a:r>
            <a:br>
              <a:rPr lang="en-US" sz="2800" b="1" dirty="0">
                <a:solidFill>
                  <a:schemeClr val="tx1">
                    <a:lumMod val="75000"/>
                    <a:lumOff val="25000"/>
                  </a:schemeClr>
                </a:solidFill>
              </a:rPr>
            </a:br>
            <a:r>
              <a:rPr lang="en-US" sz="2800" b="1" dirty="0">
                <a:solidFill>
                  <a:schemeClr val="tx1">
                    <a:lumMod val="75000"/>
                    <a:lumOff val="25000"/>
                  </a:schemeClr>
                </a:solidFill>
              </a:rPr>
              <a:t>Forest Model</a:t>
            </a:r>
          </a:p>
        </p:txBody>
      </p:sp>
      <p:cxnSp>
        <p:nvCxnSpPr>
          <p:cNvPr id="14" name="Straight Connector 13">
            <a:extLst>
              <a:ext uri="{FF2B5EF4-FFF2-40B4-BE49-F238E27FC236}">
                <a16:creationId xmlns:a16="http://schemas.microsoft.com/office/drawing/2014/main" id="{2932214F-143C-80E5-4DBC-8666F0B9276D}"/>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CDE9EAE2-ED94-F736-328A-AD0097296699}"/>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66744A99-0BC2-F1E0-60A3-BB57507FEC30}"/>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AEFC94C8-3916-C1EA-8B4D-17EA83881E08}"/>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557984C4-216E-29FB-704B-E3D0641898D4}"/>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BFACDCC8-F1C1-76C8-D796-9C2AD8F83A6F}"/>
              </a:ext>
            </a:extLst>
          </p:cNvPr>
          <p:cNvSpPr txBox="1"/>
          <p:nvPr/>
        </p:nvSpPr>
        <p:spPr>
          <a:xfrm>
            <a:off x="1930159" y="4533032"/>
            <a:ext cx="7248346" cy="369332"/>
          </a:xfrm>
          <a:prstGeom prst="rect">
            <a:avLst/>
          </a:prstGeom>
          <a:noFill/>
        </p:spPr>
        <p:txBody>
          <a:bodyPr wrap="square">
            <a:spAutoFit/>
          </a:bodyPr>
          <a:lstStyle/>
          <a:p>
            <a:r>
              <a:rPr lang="en-US" sz="1800" dirty="0"/>
              <a:t>Hold-Out Accuracy – Domestic  Tourist</a:t>
            </a:r>
            <a:endParaRPr lang="en-NZ" dirty="0"/>
          </a:p>
        </p:txBody>
      </p:sp>
      <p:pic>
        <p:nvPicPr>
          <p:cNvPr id="2" name="Content Placeholder 9">
            <a:extLst>
              <a:ext uri="{FF2B5EF4-FFF2-40B4-BE49-F238E27FC236}">
                <a16:creationId xmlns:a16="http://schemas.microsoft.com/office/drawing/2014/main" id="{D00003B9-5A64-8BF7-E597-17B3CA4620AF}"/>
              </a:ext>
            </a:extLst>
          </p:cNvPr>
          <p:cNvPicPr>
            <a:picLocks noGrp="1" noChangeAspect="1"/>
          </p:cNvPicPr>
          <p:nvPr/>
        </p:nvPicPr>
        <p:blipFill>
          <a:blip r:embed="rId3" cstate="email">
            <a:extLst>
              <a:ext uri="{28A0092B-C50C-407E-A947-70E740481C1C}">
                <a14:useLocalDpi xmlns:a14="http://schemas.microsoft.com/office/drawing/2010/main"/>
              </a:ext>
            </a:extLst>
          </a:blip>
          <a:stretch>
            <a:fillRect/>
          </a:stretch>
        </p:blipFill>
        <p:spPr>
          <a:xfrm>
            <a:off x="1557928" y="1023698"/>
            <a:ext cx="8259505" cy="3451733"/>
          </a:xfrm>
          <a:prstGeom prst="rect">
            <a:avLst/>
          </a:prstGeom>
        </p:spPr>
      </p:pic>
      <p:pic>
        <p:nvPicPr>
          <p:cNvPr id="3" name="Content Placeholder 5">
            <a:extLst>
              <a:ext uri="{FF2B5EF4-FFF2-40B4-BE49-F238E27FC236}">
                <a16:creationId xmlns:a16="http://schemas.microsoft.com/office/drawing/2014/main" id="{4D3B6634-954B-5D14-6032-F931D46FCF95}"/>
              </a:ext>
            </a:extLst>
          </p:cNvPr>
          <p:cNvPicPr>
            <a:picLocks noGrp="1" noChangeAspect="1"/>
          </p:cNvPicPr>
          <p:nvPr/>
        </p:nvPicPr>
        <p:blipFill>
          <a:blip r:embed="rId4" cstate="email">
            <a:extLst>
              <a:ext uri="{28A0092B-C50C-407E-A947-70E740481C1C}">
                <a14:useLocalDpi xmlns:a14="http://schemas.microsoft.com/office/drawing/2010/main"/>
              </a:ext>
            </a:extLst>
          </a:blip>
          <a:stretch>
            <a:fillRect/>
          </a:stretch>
        </p:blipFill>
        <p:spPr>
          <a:xfrm>
            <a:off x="1930159" y="4914256"/>
            <a:ext cx="7515044" cy="1753244"/>
          </a:xfrm>
          <a:prstGeom prst="rect">
            <a:avLst/>
          </a:prstGeom>
        </p:spPr>
      </p:pic>
    </p:spTree>
    <p:extLst>
      <p:ext uri="{BB962C8B-B14F-4D97-AF65-F5344CB8AC3E}">
        <p14:creationId xmlns:p14="http://schemas.microsoft.com/office/powerpoint/2010/main" val="3109142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A574E-1C76-7B23-5737-30BB6296503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8C113C6-912B-6602-0CF5-BCB3738B89D2}"/>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3060D863-6483-0FF2-05EF-2FAC0B22C95A}"/>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15. Three Months Transaction Card Spend Forecasting – International Tourist - Forest Model</a:t>
            </a:r>
          </a:p>
        </p:txBody>
      </p:sp>
      <p:cxnSp>
        <p:nvCxnSpPr>
          <p:cNvPr id="14" name="Straight Connector 13">
            <a:extLst>
              <a:ext uri="{FF2B5EF4-FFF2-40B4-BE49-F238E27FC236}">
                <a16:creationId xmlns:a16="http://schemas.microsoft.com/office/drawing/2014/main" id="{8147B777-D8B2-D6F4-11A0-7CB24CB424D3}"/>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E54AAC38-DB00-1E03-0BB7-410665397F7C}"/>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33D49AA5-D4CA-6132-AB2C-34E49FFA3668}"/>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7A568154-670B-F83E-A5E9-10D2EC5BE589}"/>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844C0E8E-129C-0D10-9225-46F0BDB6CF76}"/>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5FC3E0B3-34DA-2B00-3E59-31BA0C608D09}"/>
              </a:ext>
            </a:extLst>
          </p:cNvPr>
          <p:cNvSpPr txBox="1"/>
          <p:nvPr/>
        </p:nvSpPr>
        <p:spPr>
          <a:xfrm>
            <a:off x="1930159" y="4533032"/>
            <a:ext cx="7248346" cy="369332"/>
          </a:xfrm>
          <a:prstGeom prst="rect">
            <a:avLst/>
          </a:prstGeom>
          <a:noFill/>
        </p:spPr>
        <p:txBody>
          <a:bodyPr wrap="square">
            <a:spAutoFit/>
          </a:bodyPr>
          <a:lstStyle/>
          <a:p>
            <a:r>
              <a:rPr lang="en-US" sz="1800" dirty="0"/>
              <a:t>Hold-Out Accuracy – International Tourist</a:t>
            </a:r>
            <a:endParaRPr lang="en-NZ" dirty="0"/>
          </a:p>
        </p:txBody>
      </p:sp>
      <p:pic>
        <p:nvPicPr>
          <p:cNvPr id="5" name="Content Placeholder 5">
            <a:extLst>
              <a:ext uri="{FF2B5EF4-FFF2-40B4-BE49-F238E27FC236}">
                <a16:creationId xmlns:a16="http://schemas.microsoft.com/office/drawing/2014/main" id="{06258DF6-42AB-B73E-066E-2E89DBDA1819}"/>
              </a:ext>
            </a:extLst>
          </p:cNvPr>
          <p:cNvPicPr>
            <a:picLocks noGrp="1" noChangeAspect="1"/>
          </p:cNvPicPr>
          <p:nvPr/>
        </p:nvPicPr>
        <p:blipFill>
          <a:blip r:embed="rId3" cstate="email">
            <a:extLst>
              <a:ext uri="{28A0092B-C50C-407E-A947-70E740481C1C}">
                <a14:useLocalDpi xmlns:a14="http://schemas.microsoft.com/office/drawing/2010/main"/>
              </a:ext>
            </a:extLst>
          </a:blip>
          <a:stretch>
            <a:fillRect/>
          </a:stretch>
        </p:blipFill>
        <p:spPr>
          <a:xfrm>
            <a:off x="1453987" y="981056"/>
            <a:ext cx="8467388" cy="3551976"/>
          </a:xfrm>
          <a:prstGeom prst="rect">
            <a:avLst/>
          </a:prstGeom>
        </p:spPr>
      </p:pic>
      <p:pic>
        <p:nvPicPr>
          <p:cNvPr id="7" name="Content Placeholder 5">
            <a:extLst>
              <a:ext uri="{FF2B5EF4-FFF2-40B4-BE49-F238E27FC236}">
                <a16:creationId xmlns:a16="http://schemas.microsoft.com/office/drawing/2014/main" id="{79B5760F-9352-96FF-5688-6EB0697BC4C2}"/>
              </a:ext>
            </a:extLst>
          </p:cNvPr>
          <p:cNvPicPr>
            <a:picLocks noGrp="1" noChangeAspect="1"/>
          </p:cNvPicPr>
          <p:nvPr/>
        </p:nvPicPr>
        <p:blipFill>
          <a:blip r:embed="rId4" cstate="email">
            <a:extLst>
              <a:ext uri="{28A0092B-C50C-407E-A947-70E740481C1C}">
                <a14:useLocalDpi xmlns:a14="http://schemas.microsoft.com/office/drawing/2010/main"/>
              </a:ext>
            </a:extLst>
          </a:blip>
          <a:stretch>
            <a:fillRect/>
          </a:stretch>
        </p:blipFill>
        <p:spPr>
          <a:xfrm>
            <a:off x="1650927" y="4978931"/>
            <a:ext cx="7820877" cy="1796026"/>
          </a:xfrm>
          <a:prstGeom prst="rect">
            <a:avLst/>
          </a:prstGeom>
        </p:spPr>
      </p:pic>
    </p:spTree>
    <p:extLst>
      <p:ext uri="{BB962C8B-B14F-4D97-AF65-F5344CB8AC3E}">
        <p14:creationId xmlns:p14="http://schemas.microsoft.com/office/powerpoint/2010/main" val="1592926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610C4-6FCC-8B07-8151-272BA471C09D}"/>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02ACE9F-151F-E75E-71AE-EBAB7E6DC2CD}"/>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AE9A560-386F-2981-F4C0-C50711478F1A}"/>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16. Three Months Transaction Card Spending Forecasting – Domestic Tourist - SARIMA Model</a:t>
            </a:r>
          </a:p>
        </p:txBody>
      </p:sp>
      <p:cxnSp>
        <p:nvCxnSpPr>
          <p:cNvPr id="14" name="Straight Connector 13">
            <a:extLst>
              <a:ext uri="{FF2B5EF4-FFF2-40B4-BE49-F238E27FC236}">
                <a16:creationId xmlns:a16="http://schemas.microsoft.com/office/drawing/2014/main" id="{3F7339DC-0081-C5A4-9E12-1A5BD3911BFF}"/>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EA00D4C3-9366-4396-1B59-9760AD4F02C6}"/>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8F8118CD-CCBF-00EC-E1E1-BE6E518E10C8}"/>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8131981-6268-3AD4-878C-418F2988633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0207D326-1A34-DC3E-0C43-1AA0A03C117C}"/>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B8A599DD-D0A6-8EFA-626D-4E3DC7A1F63E}"/>
              </a:ext>
            </a:extLst>
          </p:cNvPr>
          <p:cNvSpPr txBox="1"/>
          <p:nvPr/>
        </p:nvSpPr>
        <p:spPr>
          <a:xfrm>
            <a:off x="1930159" y="4533032"/>
            <a:ext cx="7248346" cy="369332"/>
          </a:xfrm>
          <a:prstGeom prst="rect">
            <a:avLst/>
          </a:prstGeom>
          <a:noFill/>
        </p:spPr>
        <p:txBody>
          <a:bodyPr wrap="square">
            <a:spAutoFit/>
          </a:bodyPr>
          <a:lstStyle/>
          <a:p>
            <a:r>
              <a:rPr lang="en-US" sz="1800" dirty="0"/>
              <a:t>Hold-Out Accuracy – Domestic Tourist</a:t>
            </a:r>
            <a:endParaRPr lang="en-NZ" dirty="0"/>
          </a:p>
        </p:txBody>
      </p:sp>
      <p:pic>
        <p:nvPicPr>
          <p:cNvPr id="2" name="Content Placeholder 13">
            <a:extLst>
              <a:ext uri="{FF2B5EF4-FFF2-40B4-BE49-F238E27FC236}">
                <a16:creationId xmlns:a16="http://schemas.microsoft.com/office/drawing/2014/main" id="{50A084AD-E67B-30EE-0ADB-1BB5AC83FC65}"/>
              </a:ext>
            </a:extLst>
          </p:cNvPr>
          <p:cNvPicPr>
            <a:picLocks noGrp="1" noChangeAspect="1"/>
          </p:cNvPicPr>
          <p:nvPr/>
        </p:nvPicPr>
        <p:blipFill>
          <a:blip r:embed="rId3" cstate="email">
            <a:extLst>
              <a:ext uri="{28A0092B-C50C-407E-A947-70E740481C1C}">
                <a14:useLocalDpi xmlns:a14="http://schemas.microsoft.com/office/drawing/2010/main"/>
              </a:ext>
            </a:extLst>
          </a:blip>
          <a:stretch>
            <a:fillRect/>
          </a:stretch>
        </p:blipFill>
        <p:spPr>
          <a:xfrm>
            <a:off x="1516757" y="944531"/>
            <a:ext cx="8075150" cy="3430049"/>
          </a:xfrm>
          <a:prstGeom prst="rect">
            <a:avLst/>
          </a:prstGeom>
        </p:spPr>
      </p:pic>
      <p:pic>
        <p:nvPicPr>
          <p:cNvPr id="3" name="Content Placeholder 5">
            <a:extLst>
              <a:ext uri="{FF2B5EF4-FFF2-40B4-BE49-F238E27FC236}">
                <a16:creationId xmlns:a16="http://schemas.microsoft.com/office/drawing/2014/main" id="{330EA8A7-C4D2-D7B6-5D0C-A32194C2DA56}"/>
              </a:ext>
            </a:extLst>
          </p:cNvPr>
          <p:cNvPicPr>
            <a:picLocks noGrp="1" noChangeAspect="1"/>
          </p:cNvPicPr>
          <p:nvPr/>
        </p:nvPicPr>
        <p:blipFill>
          <a:blip r:embed="rId4" cstate="email">
            <a:extLst>
              <a:ext uri="{28A0092B-C50C-407E-A947-70E740481C1C}">
                <a14:useLocalDpi xmlns:a14="http://schemas.microsoft.com/office/drawing/2010/main"/>
              </a:ext>
            </a:extLst>
          </a:blip>
          <a:stretch>
            <a:fillRect/>
          </a:stretch>
        </p:blipFill>
        <p:spPr>
          <a:xfrm>
            <a:off x="1930159" y="4970978"/>
            <a:ext cx="6659593" cy="1696522"/>
          </a:xfrm>
          <a:prstGeom prst="rect">
            <a:avLst/>
          </a:prstGeom>
        </p:spPr>
      </p:pic>
    </p:spTree>
    <p:extLst>
      <p:ext uri="{BB962C8B-B14F-4D97-AF65-F5344CB8AC3E}">
        <p14:creationId xmlns:p14="http://schemas.microsoft.com/office/powerpoint/2010/main" val="966090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39B9C-B9E3-650C-1C7C-AC041690724E}"/>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D4F5527-EF81-AA2C-DF45-C03D98E9C7C9}"/>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4DB3430-2188-E5C1-C49A-60688130F28F}"/>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17. Three Months Transaction Card Spending Forecasting – International Tourist - SARIMA Model</a:t>
            </a:r>
          </a:p>
        </p:txBody>
      </p:sp>
      <p:cxnSp>
        <p:nvCxnSpPr>
          <p:cNvPr id="14" name="Straight Connector 13">
            <a:extLst>
              <a:ext uri="{FF2B5EF4-FFF2-40B4-BE49-F238E27FC236}">
                <a16:creationId xmlns:a16="http://schemas.microsoft.com/office/drawing/2014/main" id="{A00DED9B-342F-50FC-5592-4E5AC9622C63}"/>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5CC11FB1-7E66-6D40-32FC-FBC157737D02}"/>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ADCBDD1F-C7A0-407D-1F21-7294A5B2A783}"/>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5DFFC83B-2021-3B96-5743-955EE40BEBFA}"/>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DB672DBF-B531-3043-B42E-16CC9948F7C8}"/>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05DA07DC-5421-D878-9331-A0F83672672C}"/>
              </a:ext>
            </a:extLst>
          </p:cNvPr>
          <p:cNvSpPr txBox="1"/>
          <p:nvPr/>
        </p:nvSpPr>
        <p:spPr>
          <a:xfrm>
            <a:off x="1930159" y="4533032"/>
            <a:ext cx="7248346" cy="369332"/>
          </a:xfrm>
          <a:prstGeom prst="rect">
            <a:avLst/>
          </a:prstGeom>
          <a:noFill/>
        </p:spPr>
        <p:txBody>
          <a:bodyPr wrap="square">
            <a:spAutoFit/>
          </a:bodyPr>
          <a:lstStyle/>
          <a:p>
            <a:r>
              <a:rPr lang="en-US" sz="1800" dirty="0"/>
              <a:t>Hold-Out Accuracy – International Tourist</a:t>
            </a:r>
            <a:endParaRPr lang="en-NZ" dirty="0"/>
          </a:p>
        </p:txBody>
      </p:sp>
      <p:pic>
        <p:nvPicPr>
          <p:cNvPr id="5" name="Content Placeholder 5">
            <a:extLst>
              <a:ext uri="{FF2B5EF4-FFF2-40B4-BE49-F238E27FC236}">
                <a16:creationId xmlns:a16="http://schemas.microsoft.com/office/drawing/2014/main" id="{6CEDC1F3-B378-B4FE-A420-A5E2D618D7EE}"/>
              </a:ext>
            </a:extLst>
          </p:cNvPr>
          <p:cNvPicPr>
            <a:picLocks noGrp="1" noChangeAspect="1"/>
          </p:cNvPicPr>
          <p:nvPr/>
        </p:nvPicPr>
        <p:blipFill>
          <a:blip r:embed="rId3" cstate="email">
            <a:extLst>
              <a:ext uri="{28A0092B-C50C-407E-A947-70E740481C1C}">
                <a14:useLocalDpi xmlns:a14="http://schemas.microsoft.com/office/drawing/2010/main"/>
              </a:ext>
            </a:extLst>
          </a:blip>
          <a:stretch>
            <a:fillRect/>
          </a:stretch>
        </p:blipFill>
        <p:spPr>
          <a:xfrm>
            <a:off x="1482917" y="935606"/>
            <a:ext cx="8540977" cy="3627917"/>
          </a:xfrm>
          <a:prstGeom prst="rect">
            <a:avLst/>
          </a:prstGeom>
        </p:spPr>
      </p:pic>
      <p:pic>
        <p:nvPicPr>
          <p:cNvPr id="2" name="Content Placeholder 5">
            <a:extLst>
              <a:ext uri="{FF2B5EF4-FFF2-40B4-BE49-F238E27FC236}">
                <a16:creationId xmlns:a16="http://schemas.microsoft.com/office/drawing/2014/main" id="{D88A2D5B-A6F4-8FA9-1AAD-720AB0CABF1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340627" y="4902364"/>
            <a:ext cx="5445426" cy="1806975"/>
          </a:xfrm>
          <a:prstGeom prst="rect">
            <a:avLst/>
          </a:prstGeom>
        </p:spPr>
      </p:pic>
    </p:spTree>
    <p:extLst>
      <p:ext uri="{BB962C8B-B14F-4D97-AF65-F5344CB8AC3E}">
        <p14:creationId xmlns:p14="http://schemas.microsoft.com/office/powerpoint/2010/main" val="591186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C13E6-DC59-05FA-9705-97DDEC90A28B}"/>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74D5857-4E7F-627E-AA23-40D2F9866CE4}"/>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E884C131-E3A3-1902-9EF7-BD976EA6D488}"/>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18. Three Months Transaction Card Spending Forecasting – Domestic Tourist - VAR Model</a:t>
            </a:r>
          </a:p>
        </p:txBody>
      </p:sp>
      <p:cxnSp>
        <p:nvCxnSpPr>
          <p:cNvPr id="14" name="Straight Connector 13">
            <a:extLst>
              <a:ext uri="{FF2B5EF4-FFF2-40B4-BE49-F238E27FC236}">
                <a16:creationId xmlns:a16="http://schemas.microsoft.com/office/drawing/2014/main" id="{E5CEC806-D6E6-DCAB-BBDF-D0151AD14B3E}"/>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C26ECC8B-AF6E-F422-9002-B9C13FE30AA0}"/>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BB7BEB9E-8890-9552-3EFD-60C7C5D7EC70}"/>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9CED70EF-598D-4D8B-81F6-FDFB4B83C42E}"/>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35ECFD68-463A-03E6-B48F-9E701473EFC8}"/>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4EFE2A3C-7542-ADE6-C1F8-8C1B315E3817}"/>
              </a:ext>
            </a:extLst>
          </p:cNvPr>
          <p:cNvSpPr txBox="1"/>
          <p:nvPr/>
        </p:nvSpPr>
        <p:spPr>
          <a:xfrm>
            <a:off x="1930159" y="4533032"/>
            <a:ext cx="7248346" cy="369332"/>
          </a:xfrm>
          <a:prstGeom prst="rect">
            <a:avLst/>
          </a:prstGeom>
          <a:noFill/>
        </p:spPr>
        <p:txBody>
          <a:bodyPr wrap="square">
            <a:spAutoFit/>
          </a:bodyPr>
          <a:lstStyle/>
          <a:p>
            <a:r>
              <a:rPr lang="en-US" sz="1800" dirty="0"/>
              <a:t>Hold-Out Accuracy – Domestic Tourist</a:t>
            </a:r>
            <a:endParaRPr lang="en-NZ" dirty="0"/>
          </a:p>
        </p:txBody>
      </p:sp>
      <p:pic>
        <p:nvPicPr>
          <p:cNvPr id="7" name="Content Placeholder 5">
            <a:extLst>
              <a:ext uri="{FF2B5EF4-FFF2-40B4-BE49-F238E27FC236}">
                <a16:creationId xmlns:a16="http://schemas.microsoft.com/office/drawing/2014/main" id="{DAF2DE3B-85C5-099C-A355-28A05F4F45F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33484" y="980543"/>
            <a:ext cx="8428357" cy="3552489"/>
          </a:xfrm>
          <a:prstGeom prst="rect">
            <a:avLst/>
          </a:prstGeom>
        </p:spPr>
      </p:pic>
      <p:pic>
        <p:nvPicPr>
          <p:cNvPr id="9" name="Content Placeholder 9">
            <a:extLst>
              <a:ext uri="{FF2B5EF4-FFF2-40B4-BE49-F238E27FC236}">
                <a16:creationId xmlns:a16="http://schemas.microsoft.com/office/drawing/2014/main" id="{E5C0BC7F-9DEB-2AE6-A95E-D077D105865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874035" y="4902364"/>
            <a:ext cx="5226170" cy="1794393"/>
          </a:xfrm>
          <a:prstGeom prst="rect">
            <a:avLst/>
          </a:prstGeom>
        </p:spPr>
      </p:pic>
    </p:spTree>
    <p:extLst>
      <p:ext uri="{BB962C8B-B14F-4D97-AF65-F5344CB8AC3E}">
        <p14:creationId xmlns:p14="http://schemas.microsoft.com/office/powerpoint/2010/main" val="3242814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086C7-FDFA-C147-921B-A6D7CDA553DF}"/>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860FAC6-52BD-AE3D-B98C-D3067D862979}"/>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C7672745-EEE8-6898-4694-89AAEADF054C}"/>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19. Three Months Transaction Card Spending Forecasting – International Tourist - VAR Model</a:t>
            </a:r>
          </a:p>
        </p:txBody>
      </p:sp>
      <p:cxnSp>
        <p:nvCxnSpPr>
          <p:cNvPr id="14" name="Straight Connector 13">
            <a:extLst>
              <a:ext uri="{FF2B5EF4-FFF2-40B4-BE49-F238E27FC236}">
                <a16:creationId xmlns:a16="http://schemas.microsoft.com/office/drawing/2014/main" id="{CD1C2FF6-58C8-84F2-D62A-69B8B71F2B6D}"/>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EB861059-4748-604C-D0DD-9E2D5A56B936}"/>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AC6932F-D719-D59D-38CB-C08FEB82705C}"/>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19302D20-E904-3B86-D9C9-272F06549E08}"/>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C27EA0FA-5998-187B-307B-2BC289742900}"/>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B6CC3FFA-E467-E054-5D6C-98570A490FAC}"/>
              </a:ext>
            </a:extLst>
          </p:cNvPr>
          <p:cNvSpPr txBox="1"/>
          <p:nvPr/>
        </p:nvSpPr>
        <p:spPr>
          <a:xfrm>
            <a:off x="1930159" y="4533032"/>
            <a:ext cx="7248346" cy="369332"/>
          </a:xfrm>
          <a:prstGeom prst="rect">
            <a:avLst/>
          </a:prstGeom>
          <a:noFill/>
        </p:spPr>
        <p:txBody>
          <a:bodyPr wrap="square">
            <a:spAutoFit/>
          </a:bodyPr>
          <a:lstStyle/>
          <a:p>
            <a:r>
              <a:rPr lang="en-US" sz="1800" dirty="0"/>
              <a:t>Hold-Out Accuracy – International Tourist</a:t>
            </a:r>
            <a:endParaRPr lang="en-NZ" dirty="0"/>
          </a:p>
        </p:txBody>
      </p:sp>
      <p:pic>
        <p:nvPicPr>
          <p:cNvPr id="2" name="Picture 1">
            <a:extLst>
              <a:ext uri="{FF2B5EF4-FFF2-40B4-BE49-F238E27FC236}">
                <a16:creationId xmlns:a16="http://schemas.microsoft.com/office/drawing/2014/main" id="{4832DC1B-2C61-5C0D-E776-77FEB20F776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51824" y="929003"/>
            <a:ext cx="8572070" cy="3641124"/>
          </a:xfrm>
          <a:prstGeom prst="rect">
            <a:avLst/>
          </a:prstGeom>
        </p:spPr>
      </p:pic>
      <p:pic>
        <p:nvPicPr>
          <p:cNvPr id="3" name="Content Placeholder 5">
            <a:extLst>
              <a:ext uri="{FF2B5EF4-FFF2-40B4-BE49-F238E27FC236}">
                <a16:creationId xmlns:a16="http://schemas.microsoft.com/office/drawing/2014/main" id="{C6A74226-703D-3D5F-8F89-2DDEDB0BD2E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62503" y="4902364"/>
            <a:ext cx="4383657" cy="1884972"/>
          </a:xfrm>
          <a:prstGeom prst="rect">
            <a:avLst/>
          </a:prstGeom>
        </p:spPr>
      </p:pic>
    </p:spTree>
    <p:extLst>
      <p:ext uri="{BB962C8B-B14F-4D97-AF65-F5344CB8AC3E}">
        <p14:creationId xmlns:p14="http://schemas.microsoft.com/office/powerpoint/2010/main" val="2433593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6B225-4DE4-0080-E2BF-D623E7999BD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78369AF-6C23-C93B-802A-3D6A96B2A378}"/>
              </a:ext>
              <a:ext uri="{C183D7F6-B498-43B3-948B-1728B52AA6E4}">
                <adec:decorative xmlns:adec="http://schemas.microsoft.com/office/drawing/2017/decorative" val="1"/>
              </a:ext>
            </a:extLst>
          </p:cNvPr>
          <p:cNvCxnSpPr>
            <a:cxnSpLocks/>
          </p:cNvCxnSpPr>
          <p:nvPr/>
        </p:nvCxnSpPr>
        <p:spPr>
          <a:xfrm>
            <a:off x="10351698" y="522898"/>
            <a:ext cx="184030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A35AC719-123E-DE22-4EB9-A526AD9EA8EF}"/>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20. Model Comparison and Accuracy Evaluation</a:t>
            </a:r>
          </a:p>
        </p:txBody>
      </p:sp>
      <p:cxnSp>
        <p:nvCxnSpPr>
          <p:cNvPr id="14" name="Straight Connector 13">
            <a:extLst>
              <a:ext uri="{FF2B5EF4-FFF2-40B4-BE49-F238E27FC236}">
                <a16:creationId xmlns:a16="http://schemas.microsoft.com/office/drawing/2014/main" id="{4CD937AF-F394-78DE-AC1F-B4284212BB70}"/>
              </a:ext>
              <a:ext uri="{C183D7F6-B498-43B3-948B-1728B52AA6E4}">
                <adec:decorative xmlns:adec="http://schemas.microsoft.com/office/drawing/2017/decorative" val="1"/>
              </a:ext>
            </a:extLst>
          </p:cNvPr>
          <p:cNvCxnSpPr>
            <a:cxnSpLocks/>
          </p:cNvCxnSpPr>
          <p:nvPr/>
        </p:nvCxnSpPr>
        <p:spPr>
          <a:xfrm flipV="1">
            <a:off x="0" y="522898"/>
            <a:ext cx="1811547"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F749077D-6CEF-3A7E-D079-8910E225EB5C}"/>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4C226EF6-255C-1522-8A27-A6FE869F86B7}"/>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ADFC3CF4-C87A-3C34-3EA5-931D6A58B7DC}"/>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01DF3CFA-CE8D-AD52-CDAE-997547E8261E}"/>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500B1EA9-2EAB-E1E6-50FD-524B95EC1433}"/>
              </a:ext>
            </a:extLst>
          </p:cNvPr>
          <p:cNvSpPr txBox="1"/>
          <p:nvPr/>
        </p:nvSpPr>
        <p:spPr>
          <a:xfrm>
            <a:off x="228600" y="1305342"/>
            <a:ext cx="11667226" cy="1631216"/>
          </a:xfrm>
          <a:prstGeom prst="rect">
            <a:avLst/>
          </a:prstGeom>
          <a:noFill/>
        </p:spPr>
        <p:txBody>
          <a:bodyPr wrap="square">
            <a:spAutoFit/>
          </a:bodyPr>
          <a:lstStyle/>
          <a:p>
            <a:r>
              <a:rPr lang="en-US" sz="2000" dirty="0"/>
              <a:t>For the three-month forecasting of accommodation by domestic, international, and total guest nights, four models, ARIMA, Random Forest, SARIMAX, and VAR were applied. Among these, the VAR model demonstrated the highest accuracy, evaluated using a 12-month hold-out precision error method with metrics such as RMSE, MAE, MAPE, and </a:t>
            </a:r>
            <a:r>
              <a:rPr lang="en-US" sz="2000" dirty="0" err="1"/>
              <a:t>sMAPE</a:t>
            </a:r>
            <a:r>
              <a:rPr lang="en-US" sz="2000" dirty="0"/>
              <a:t>.</a:t>
            </a:r>
            <a:endParaRPr lang="en-IN" sz="2000" dirty="0"/>
          </a:p>
          <a:p>
            <a:pPr>
              <a:buNone/>
            </a:pPr>
            <a:endParaRPr lang="en-US" sz="2000" dirty="0"/>
          </a:p>
        </p:txBody>
      </p:sp>
    </p:spTree>
    <p:extLst>
      <p:ext uri="{BB962C8B-B14F-4D97-AF65-F5344CB8AC3E}">
        <p14:creationId xmlns:p14="http://schemas.microsoft.com/office/powerpoint/2010/main" val="4131099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7929C-F160-5200-75C6-140616DCB6A1}"/>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FC80AD4-05D0-EDFC-31BD-0606D8B4973E}"/>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8F22C13-4BEA-ECC1-B90E-F735A44CE03C}"/>
              </a:ext>
            </a:extLst>
          </p:cNvPr>
          <p:cNvSpPr txBox="1">
            <a:spLocks/>
          </p:cNvSpPr>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21. Three Months Accommodation Forecasting – Domestic, International, Total Guest Nights</a:t>
            </a:r>
            <a:br>
              <a:rPr lang="en-US" sz="2800" b="1" dirty="0">
                <a:solidFill>
                  <a:schemeClr val="tx1">
                    <a:lumMod val="75000"/>
                    <a:lumOff val="25000"/>
                  </a:schemeClr>
                </a:solidFill>
              </a:rPr>
            </a:br>
            <a:r>
              <a:rPr lang="en-US" sz="2800" b="1" dirty="0">
                <a:solidFill>
                  <a:schemeClr val="tx1">
                    <a:lumMod val="75000"/>
                    <a:lumOff val="25000"/>
                  </a:schemeClr>
                </a:solidFill>
              </a:rPr>
              <a:t>ARIMA Model</a:t>
            </a:r>
          </a:p>
        </p:txBody>
      </p:sp>
      <p:cxnSp>
        <p:nvCxnSpPr>
          <p:cNvPr id="14" name="Straight Connector 13">
            <a:extLst>
              <a:ext uri="{FF2B5EF4-FFF2-40B4-BE49-F238E27FC236}">
                <a16:creationId xmlns:a16="http://schemas.microsoft.com/office/drawing/2014/main" id="{70556EF5-EAD6-2B1E-D895-235D926F08D2}"/>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1767F4CC-9CF5-56A4-D2D8-5E86C133DDCD}"/>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3B60FA26-D73C-8C86-406C-931BA00A804F}"/>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013FEC7D-3934-478B-02EA-CA5026BB316D}"/>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390CFEDC-C2ED-223E-7BA4-6768987FE054}"/>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62FAE41D-B215-3C46-7B3C-EE886105E265}"/>
              </a:ext>
            </a:extLst>
          </p:cNvPr>
          <p:cNvSpPr txBox="1"/>
          <p:nvPr/>
        </p:nvSpPr>
        <p:spPr>
          <a:xfrm>
            <a:off x="7920882" y="1211005"/>
            <a:ext cx="4206024" cy="830997"/>
          </a:xfrm>
          <a:prstGeom prst="rect">
            <a:avLst/>
          </a:prstGeom>
          <a:noFill/>
        </p:spPr>
        <p:txBody>
          <a:bodyPr wrap="square">
            <a:spAutoFit/>
          </a:bodyPr>
          <a:lstStyle/>
          <a:p>
            <a:r>
              <a:rPr lang="en-US" sz="1600" dirty="0"/>
              <a:t>Hold-out Accuracy – Domestic, International &amp; Total Guest Nights </a:t>
            </a:r>
            <a:br>
              <a:rPr lang="en-US" sz="1600" dirty="0"/>
            </a:br>
            <a:endParaRPr lang="en-NZ" sz="1600" dirty="0"/>
          </a:p>
        </p:txBody>
      </p:sp>
      <p:pic>
        <p:nvPicPr>
          <p:cNvPr id="5" name="Content Placeholder 5">
            <a:extLst>
              <a:ext uri="{FF2B5EF4-FFF2-40B4-BE49-F238E27FC236}">
                <a16:creationId xmlns:a16="http://schemas.microsoft.com/office/drawing/2014/main" id="{84E7D433-C811-A334-9B4A-B7F1E96C68A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094" y="2000703"/>
            <a:ext cx="8710586" cy="3646292"/>
          </a:xfrm>
          <a:prstGeom prst="rect">
            <a:avLst/>
          </a:prstGeom>
        </p:spPr>
      </p:pic>
      <p:pic>
        <p:nvPicPr>
          <p:cNvPr id="7" name="Content Placeholder 5">
            <a:extLst>
              <a:ext uri="{FF2B5EF4-FFF2-40B4-BE49-F238E27FC236}">
                <a16:creationId xmlns:a16="http://schemas.microsoft.com/office/drawing/2014/main" id="{88296436-93C2-F850-4966-2DD6F5AC8A6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00762" y="1818170"/>
            <a:ext cx="2434645" cy="4869289"/>
          </a:xfrm>
          <a:prstGeom prst="rect">
            <a:avLst/>
          </a:prstGeom>
        </p:spPr>
      </p:pic>
    </p:spTree>
    <p:extLst>
      <p:ext uri="{BB962C8B-B14F-4D97-AF65-F5344CB8AC3E}">
        <p14:creationId xmlns:p14="http://schemas.microsoft.com/office/powerpoint/2010/main" val="2668051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CF04B-B5AB-4E86-B0CA-E37FD7683B6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412667B-F4EE-1E5C-B34F-2ACF4D97B5C4}"/>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5E03B755-8151-5112-029C-14A76A85BB18}"/>
              </a:ext>
            </a:extLst>
          </p:cNvPr>
          <p:cNvSpPr txBox="1">
            <a:spLocks/>
          </p:cNvSpPr>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22. Three Months Accommodation Forecasting – Domestic, International, Total Guest Nights</a:t>
            </a:r>
            <a:br>
              <a:rPr lang="en-US" sz="2800" b="1" dirty="0">
                <a:solidFill>
                  <a:schemeClr val="tx1">
                    <a:lumMod val="75000"/>
                    <a:lumOff val="25000"/>
                  </a:schemeClr>
                </a:solidFill>
              </a:rPr>
            </a:br>
            <a:r>
              <a:rPr lang="en-US" sz="2800" b="1" dirty="0">
                <a:solidFill>
                  <a:schemeClr val="tx1">
                    <a:lumMod val="75000"/>
                    <a:lumOff val="25000"/>
                  </a:schemeClr>
                </a:solidFill>
              </a:rPr>
              <a:t>Forest Model</a:t>
            </a:r>
          </a:p>
        </p:txBody>
      </p:sp>
      <p:cxnSp>
        <p:nvCxnSpPr>
          <p:cNvPr id="14" name="Straight Connector 13">
            <a:extLst>
              <a:ext uri="{FF2B5EF4-FFF2-40B4-BE49-F238E27FC236}">
                <a16:creationId xmlns:a16="http://schemas.microsoft.com/office/drawing/2014/main" id="{BD96B171-FD16-34DE-E617-ABCBDB0DFD51}"/>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E7F398F0-71F1-D9E4-3768-8AA7FBA7238D}"/>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0A867F26-6C09-3274-57F5-AF99AF94ED8B}"/>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5F1A0E13-7287-6F15-5620-54F3C88420DA}"/>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AD30513B-0207-0F70-4037-589EBE6B1206}"/>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2C1AB57B-B0E9-0EBB-FFB0-31D525F7E921}"/>
              </a:ext>
            </a:extLst>
          </p:cNvPr>
          <p:cNvSpPr txBox="1"/>
          <p:nvPr/>
        </p:nvSpPr>
        <p:spPr>
          <a:xfrm>
            <a:off x="7920882" y="1211005"/>
            <a:ext cx="4206024" cy="830997"/>
          </a:xfrm>
          <a:prstGeom prst="rect">
            <a:avLst/>
          </a:prstGeom>
          <a:noFill/>
        </p:spPr>
        <p:txBody>
          <a:bodyPr wrap="square">
            <a:spAutoFit/>
          </a:bodyPr>
          <a:lstStyle/>
          <a:p>
            <a:r>
              <a:rPr lang="en-US" sz="1600" dirty="0"/>
              <a:t>Hold-out Accuracy – Domestic, International &amp; Total Guest Nights </a:t>
            </a:r>
            <a:br>
              <a:rPr lang="en-US" sz="1600" dirty="0"/>
            </a:br>
            <a:endParaRPr lang="en-NZ" sz="1600" dirty="0"/>
          </a:p>
        </p:txBody>
      </p:sp>
      <p:pic>
        <p:nvPicPr>
          <p:cNvPr id="2" name="Content Placeholder 5">
            <a:extLst>
              <a:ext uri="{FF2B5EF4-FFF2-40B4-BE49-F238E27FC236}">
                <a16:creationId xmlns:a16="http://schemas.microsoft.com/office/drawing/2014/main" id="{1BE82F45-DEF0-D612-6EA3-F850DF6722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1984375"/>
            <a:ext cx="8692686" cy="3626269"/>
          </a:xfrm>
          <a:prstGeom prst="rect">
            <a:avLst/>
          </a:prstGeom>
        </p:spPr>
      </p:pic>
      <p:pic>
        <p:nvPicPr>
          <p:cNvPr id="3" name="Content Placeholder 5">
            <a:extLst>
              <a:ext uri="{FF2B5EF4-FFF2-40B4-BE49-F238E27FC236}">
                <a16:creationId xmlns:a16="http://schemas.microsoft.com/office/drawing/2014/main" id="{7DBC8B34-9097-94FA-2B1D-153CCAD418A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23710" y="1769730"/>
            <a:ext cx="2657534" cy="4897770"/>
          </a:xfrm>
          <a:prstGeom prst="rect">
            <a:avLst/>
          </a:prstGeom>
        </p:spPr>
      </p:pic>
    </p:spTree>
    <p:extLst>
      <p:ext uri="{BB962C8B-B14F-4D97-AF65-F5344CB8AC3E}">
        <p14:creationId xmlns:p14="http://schemas.microsoft.com/office/powerpoint/2010/main" val="39609039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800F5-ECE3-682F-C8FA-7F1733733B0E}"/>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33FEF2C-1B5E-DB3D-4B1B-8A0F854613E5}"/>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147BC61-BDA4-45EE-CF17-CC02EA010AA0}"/>
              </a:ext>
            </a:extLst>
          </p:cNvPr>
          <p:cNvSpPr txBox="1">
            <a:spLocks/>
          </p:cNvSpPr>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23. Three Months Accommodation Forecasting – Domestic, International, Total Guest Nights</a:t>
            </a:r>
            <a:br>
              <a:rPr lang="en-US" sz="2800" b="1" dirty="0">
                <a:solidFill>
                  <a:schemeClr val="tx1">
                    <a:lumMod val="75000"/>
                    <a:lumOff val="25000"/>
                  </a:schemeClr>
                </a:solidFill>
              </a:rPr>
            </a:br>
            <a:r>
              <a:rPr lang="en-US" sz="2800" b="1" dirty="0">
                <a:solidFill>
                  <a:schemeClr val="tx1">
                    <a:lumMod val="75000"/>
                    <a:lumOff val="25000"/>
                  </a:schemeClr>
                </a:solidFill>
              </a:rPr>
              <a:t>SARIMAX Model</a:t>
            </a:r>
          </a:p>
        </p:txBody>
      </p:sp>
      <p:cxnSp>
        <p:nvCxnSpPr>
          <p:cNvPr id="14" name="Straight Connector 13">
            <a:extLst>
              <a:ext uri="{FF2B5EF4-FFF2-40B4-BE49-F238E27FC236}">
                <a16:creationId xmlns:a16="http://schemas.microsoft.com/office/drawing/2014/main" id="{BF81E4C2-0696-FAB4-2113-9710E29B8E9D}"/>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F9607764-CAE2-6C8F-D226-89B3D1A3CA94}"/>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F16E182F-6077-CD2F-B843-4B5C2842968C}"/>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47E4AB7D-1DCC-B77C-0921-9871DCEA3A0C}"/>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A48BD25E-AD7C-C330-4C01-F1CF7E96A9F8}"/>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610D6FC2-4C9E-2495-797D-FCB9F2EA9361}"/>
              </a:ext>
            </a:extLst>
          </p:cNvPr>
          <p:cNvSpPr txBox="1"/>
          <p:nvPr/>
        </p:nvSpPr>
        <p:spPr>
          <a:xfrm>
            <a:off x="7920882" y="1211005"/>
            <a:ext cx="4206024" cy="830997"/>
          </a:xfrm>
          <a:prstGeom prst="rect">
            <a:avLst/>
          </a:prstGeom>
          <a:noFill/>
        </p:spPr>
        <p:txBody>
          <a:bodyPr wrap="square">
            <a:spAutoFit/>
          </a:bodyPr>
          <a:lstStyle/>
          <a:p>
            <a:r>
              <a:rPr lang="en-US" sz="1600" dirty="0"/>
              <a:t>Hold-out Accuracy – Domestic, International &amp; Total Guest Nights </a:t>
            </a:r>
            <a:br>
              <a:rPr lang="en-US" sz="1600" dirty="0"/>
            </a:br>
            <a:endParaRPr lang="en-NZ" sz="1600" dirty="0"/>
          </a:p>
        </p:txBody>
      </p:sp>
      <p:pic>
        <p:nvPicPr>
          <p:cNvPr id="5" name="Content Placeholder 5">
            <a:extLst>
              <a:ext uri="{FF2B5EF4-FFF2-40B4-BE49-F238E27FC236}">
                <a16:creationId xmlns:a16="http://schemas.microsoft.com/office/drawing/2014/main" id="{1EE2119C-FC4E-8426-5D9E-8E7932F6920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258" y="2115956"/>
            <a:ext cx="8471462" cy="3531039"/>
          </a:xfrm>
          <a:prstGeom prst="rect">
            <a:avLst/>
          </a:prstGeom>
        </p:spPr>
      </p:pic>
      <p:pic>
        <p:nvPicPr>
          <p:cNvPr id="7" name="Content Placeholder 5">
            <a:extLst>
              <a:ext uri="{FF2B5EF4-FFF2-40B4-BE49-F238E27FC236}">
                <a16:creationId xmlns:a16="http://schemas.microsoft.com/office/drawing/2014/main" id="{28C88A2A-2F34-603E-E3B1-DE3D2BAEAA9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040825" y="1908294"/>
            <a:ext cx="2622608" cy="4902489"/>
          </a:xfrm>
          <a:prstGeom prst="rect">
            <a:avLst/>
          </a:prstGeom>
        </p:spPr>
      </p:pic>
    </p:spTree>
    <p:extLst>
      <p:ext uri="{BB962C8B-B14F-4D97-AF65-F5344CB8AC3E}">
        <p14:creationId xmlns:p14="http://schemas.microsoft.com/office/powerpoint/2010/main" val="3561326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B7BCA-AA95-D23E-0067-1B1AD0674F16}"/>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4CE1908-0D85-0290-4D2D-5AF7D72C3A3B}"/>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31AAB7B-97CF-B385-704D-1808F47F7027}"/>
              </a:ext>
            </a:extLst>
          </p:cNvPr>
          <p:cNvSpPr txBox="1">
            <a:spLocks/>
          </p:cNvSpPr>
          <p:nvPr/>
        </p:nvSpPr>
        <p:spPr>
          <a:xfrm>
            <a:off x="228600" y="190500"/>
            <a:ext cx="11734800" cy="1163395"/>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24. Three Months Accommodation Forecasting – Domestic, International, Total Guest Nights</a:t>
            </a:r>
            <a:br>
              <a:rPr lang="en-US" sz="2800" b="1" dirty="0">
                <a:solidFill>
                  <a:schemeClr val="tx1">
                    <a:lumMod val="75000"/>
                    <a:lumOff val="25000"/>
                  </a:schemeClr>
                </a:solidFill>
              </a:rPr>
            </a:br>
            <a:r>
              <a:rPr lang="en-US" sz="2800" b="1" dirty="0">
                <a:solidFill>
                  <a:schemeClr val="tx1">
                    <a:lumMod val="75000"/>
                    <a:lumOff val="25000"/>
                  </a:schemeClr>
                </a:solidFill>
              </a:rPr>
              <a:t>VAR Model</a:t>
            </a:r>
          </a:p>
        </p:txBody>
      </p:sp>
      <p:cxnSp>
        <p:nvCxnSpPr>
          <p:cNvPr id="14" name="Straight Connector 13">
            <a:extLst>
              <a:ext uri="{FF2B5EF4-FFF2-40B4-BE49-F238E27FC236}">
                <a16:creationId xmlns:a16="http://schemas.microsoft.com/office/drawing/2014/main" id="{4C2E66A4-51B2-F14B-C63D-1463F0E916E3}"/>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EFB9DA05-9F8B-D07F-E864-1B88B4E5BD9C}"/>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5601791-ED4C-2DB5-B22B-AAE00F870BEE}"/>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1C23CBC7-FD68-23B2-1514-5F35C0A5838C}"/>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796EA193-0BD1-FF85-6859-5C74DD6880C1}"/>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BA35E1A1-99E6-76C2-7AA7-F488D8F1F616}"/>
              </a:ext>
            </a:extLst>
          </p:cNvPr>
          <p:cNvSpPr txBox="1"/>
          <p:nvPr/>
        </p:nvSpPr>
        <p:spPr>
          <a:xfrm>
            <a:off x="7920882" y="1211005"/>
            <a:ext cx="4206024" cy="830997"/>
          </a:xfrm>
          <a:prstGeom prst="rect">
            <a:avLst/>
          </a:prstGeom>
          <a:noFill/>
        </p:spPr>
        <p:txBody>
          <a:bodyPr wrap="square">
            <a:spAutoFit/>
          </a:bodyPr>
          <a:lstStyle/>
          <a:p>
            <a:r>
              <a:rPr lang="en-US" sz="1600" dirty="0"/>
              <a:t>Hold-out Accuracy – Domestic, International &amp; Total Guest Nights </a:t>
            </a:r>
            <a:br>
              <a:rPr lang="en-US" sz="1600" dirty="0"/>
            </a:br>
            <a:endParaRPr lang="en-NZ" sz="1600" dirty="0"/>
          </a:p>
        </p:txBody>
      </p:sp>
      <p:pic>
        <p:nvPicPr>
          <p:cNvPr id="2" name="Content Placeholder 5">
            <a:extLst>
              <a:ext uri="{FF2B5EF4-FFF2-40B4-BE49-F238E27FC236}">
                <a16:creationId xmlns:a16="http://schemas.microsoft.com/office/drawing/2014/main" id="{DAEE4404-B3C2-3046-E4D1-650222712F4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094" y="2042002"/>
            <a:ext cx="8487007" cy="3604993"/>
          </a:xfrm>
          <a:prstGeom prst="rect">
            <a:avLst/>
          </a:prstGeom>
        </p:spPr>
      </p:pic>
      <p:pic>
        <p:nvPicPr>
          <p:cNvPr id="3" name="Content Placeholder 5">
            <a:extLst>
              <a:ext uri="{FF2B5EF4-FFF2-40B4-BE49-F238E27FC236}">
                <a16:creationId xmlns:a16="http://schemas.microsoft.com/office/drawing/2014/main" id="{4EB06515-017D-3134-F541-6C04B25465D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446754" y="1909252"/>
            <a:ext cx="2317829" cy="4819389"/>
          </a:xfrm>
          <a:prstGeom prst="rect">
            <a:avLst/>
          </a:prstGeom>
        </p:spPr>
      </p:pic>
    </p:spTree>
    <p:extLst>
      <p:ext uri="{BB962C8B-B14F-4D97-AF65-F5344CB8AC3E}">
        <p14:creationId xmlns:p14="http://schemas.microsoft.com/office/powerpoint/2010/main" val="3914920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56DD-C00C-A9F4-A738-09F4A5F3A9B2}"/>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87161D9-40FE-27B8-2F20-8CAFA6722970}"/>
              </a:ext>
              <a:ext uri="{C183D7F6-B498-43B3-948B-1728B52AA6E4}">
                <adec:decorative xmlns:adec="http://schemas.microsoft.com/office/drawing/2017/decorative" val="1"/>
              </a:ext>
            </a:extLst>
          </p:cNvPr>
          <p:cNvCxnSpPr>
            <a:cxnSpLocks/>
          </p:cNvCxnSpPr>
          <p:nvPr/>
        </p:nvCxnSpPr>
        <p:spPr>
          <a:xfrm>
            <a:off x="10368951" y="522898"/>
            <a:ext cx="18230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E6AF41F1-2FAC-A9BE-ABBF-5D00EA161499}"/>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25. Model Comparison and Accuracy Evaluation</a:t>
            </a:r>
          </a:p>
        </p:txBody>
      </p:sp>
      <p:cxnSp>
        <p:nvCxnSpPr>
          <p:cNvPr id="14" name="Straight Connector 13">
            <a:extLst>
              <a:ext uri="{FF2B5EF4-FFF2-40B4-BE49-F238E27FC236}">
                <a16:creationId xmlns:a16="http://schemas.microsoft.com/office/drawing/2014/main" id="{48E14A7D-4518-0C6D-59F2-32EBE8949F11}"/>
              </a:ext>
              <a:ext uri="{C183D7F6-B498-43B3-948B-1728B52AA6E4}">
                <adec:decorative xmlns:adec="http://schemas.microsoft.com/office/drawing/2017/decorative" val="1"/>
              </a:ext>
            </a:extLst>
          </p:cNvPr>
          <p:cNvCxnSpPr>
            <a:cxnSpLocks/>
          </p:cNvCxnSpPr>
          <p:nvPr/>
        </p:nvCxnSpPr>
        <p:spPr>
          <a:xfrm flipV="1">
            <a:off x="0" y="522898"/>
            <a:ext cx="1820174" cy="11283"/>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3166060C-3136-88BE-9DA1-A037962A05B8}"/>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CF691E91-0748-B1E2-A024-F83471DE45A8}"/>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57903A8E-B161-6464-DC8F-959682F2ADA0}"/>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A76BEF5B-F87E-9B09-8774-E5C8CA75D3B9}"/>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FBA32E43-FD43-AB43-D639-EA760BE170A3}"/>
              </a:ext>
            </a:extLst>
          </p:cNvPr>
          <p:cNvSpPr txBox="1"/>
          <p:nvPr/>
        </p:nvSpPr>
        <p:spPr>
          <a:xfrm>
            <a:off x="228600" y="1305342"/>
            <a:ext cx="11667226" cy="1323439"/>
          </a:xfrm>
          <a:prstGeom prst="rect">
            <a:avLst/>
          </a:prstGeom>
          <a:noFill/>
        </p:spPr>
        <p:txBody>
          <a:bodyPr wrap="square">
            <a:spAutoFit/>
          </a:bodyPr>
          <a:lstStyle/>
          <a:p>
            <a:r>
              <a:rPr lang="en-US" sz="2000" dirty="0"/>
              <a:t>For the three-month forecasting of Visitors arrival, four models ARIMA, Random Forest, SARIMAX, and VAR were applied . Among these, the VAR model demonstrated the highest accuracy, evaluated using a 12-month hold-out precision error method with metrics such as RMSE, MAE, MAPE, and </a:t>
            </a:r>
            <a:r>
              <a:rPr lang="en-US" sz="2000" dirty="0" err="1"/>
              <a:t>sMAPE</a:t>
            </a:r>
            <a:r>
              <a:rPr lang="en-US" sz="2000" dirty="0"/>
              <a:t>.</a:t>
            </a:r>
            <a:endParaRPr lang="en-IN" sz="2000" dirty="0"/>
          </a:p>
          <a:p>
            <a:pPr>
              <a:buNone/>
            </a:pPr>
            <a:endParaRPr lang="en-US" sz="2000" dirty="0"/>
          </a:p>
        </p:txBody>
      </p:sp>
    </p:spTree>
    <p:extLst>
      <p:ext uri="{BB962C8B-B14F-4D97-AF65-F5344CB8AC3E}">
        <p14:creationId xmlns:p14="http://schemas.microsoft.com/office/powerpoint/2010/main" val="2427146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4F8F5-BDEB-890F-10CC-E394D0E0E4A3}"/>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511CF29-0124-91FF-23F3-DD90A02F5292}"/>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5C53C6C-B86B-1034-20E7-51122B87059E}"/>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26. Three Months Visitors Arrivals Forecasting </a:t>
            </a:r>
            <a:br>
              <a:rPr lang="en-US" sz="2800" b="1" dirty="0">
                <a:solidFill>
                  <a:schemeClr val="tx1">
                    <a:lumMod val="75000"/>
                    <a:lumOff val="25000"/>
                  </a:schemeClr>
                </a:solidFill>
              </a:rPr>
            </a:br>
            <a:r>
              <a:rPr lang="en-US" sz="2800" b="1" dirty="0">
                <a:solidFill>
                  <a:schemeClr val="tx1">
                    <a:lumMod val="75000"/>
                    <a:lumOff val="25000"/>
                  </a:schemeClr>
                </a:solidFill>
              </a:rPr>
              <a:t>ARIMA Model</a:t>
            </a:r>
          </a:p>
        </p:txBody>
      </p:sp>
      <p:cxnSp>
        <p:nvCxnSpPr>
          <p:cNvPr id="14" name="Straight Connector 13">
            <a:extLst>
              <a:ext uri="{FF2B5EF4-FFF2-40B4-BE49-F238E27FC236}">
                <a16:creationId xmlns:a16="http://schemas.microsoft.com/office/drawing/2014/main" id="{99979613-B8E8-78AE-9EFE-17484B5E5D41}"/>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6E4D2CE5-EFA4-F852-8B11-902F2AC2FDB7}"/>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DAAC5D59-9B65-D3B2-E9C6-7B82C0837EA8}"/>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432909A4-7C17-1958-4BC2-1DB5E6F7694A}"/>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31BB2DD5-6379-1424-19A2-60A42A26B597}"/>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D891E2F8-0A3E-5CEE-170F-F24EFDFE718E}"/>
              </a:ext>
            </a:extLst>
          </p:cNvPr>
          <p:cNvSpPr txBox="1"/>
          <p:nvPr/>
        </p:nvSpPr>
        <p:spPr>
          <a:xfrm>
            <a:off x="3926852" y="4416952"/>
            <a:ext cx="4206024" cy="584775"/>
          </a:xfrm>
          <a:prstGeom prst="rect">
            <a:avLst/>
          </a:prstGeom>
          <a:noFill/>
        </p:spPr>
        <p:txBody>
          <a:bodyPr wrap="square">
            <a:spAutoFit/>
          </a:bodyPr>
          <a:lstStyle/>
          <a:p>
            <a:r>
              <a:rPr lang="en-US" sz="1600" dirty="0"/>
              <a:t>Hold-out Accuracy – Visitors Arrivals</a:t>
            </a:r>
            <a:br>
              <a:rPr lang="en-US" sz="1600" dirty="0"/>
            </a:br>
            <a:endParaRPr lang="en-NZ" sz="1600" dirty="0"/>
          </a:p>
        </p:txBody>
      </p:sp>
      <p:pic>
        <p:nvPicPr>
          <p:cNvPr id="5" name="Content Placeholder 5">
            <a:extLst>
              <a:ext uri="{FF2B5EF4-FFF2-40B4-BE49-F238E27FC236}">
                <a16:creationId xmlns:a16="http://schemas.microsoft.com/office/drawing/2014/main" id="{B437A71C-AFDF-6583-9739-0C26F3CC67D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52754" y="966097"/>
            <a:ext cx="8285831" cy="3477576"/>
          </a:xfrm>
          <a:prstGeom prst="rect">
            <a:avLst/>
          </a:prstGeom>
        </p:spPr>
      </p:pic>
      <p:pic>
        <p:nvPicPr>
          <p:cNvPr id="7" name="Content Placeholder 5">
            <a:extLst>
              <a:ext uri="{FF2B5EF4-FFF2-40B4-BE49-F238E27FC236}">
                <a16:creationId xmlns:a16="http://schemas.microsoft.com/office/drawing/2014/main" id="{480F4720-BE33-542F-9554-B0619D38B4F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684078" y="4820764"/>
            <a:ext cx="2169916" cy="1846736"/>
          </a:xfrm>
          <a:prstGeom prst="rect">
            <a:avLst/>
          </a:prstGeom>
        </p:spPr>
      </p:pic>
    </p:spTree>
    <p:extLst>
      <p:ext uri="{BB962C8B-B14F-4D97-AF65-F5344CB8AC3E}">
        <p14:creationId xmlns:p14="http://schemas.microsoft.com/office/powerpoint/2010/main" val="22915926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25BD6-2D2A-8849-25A3-345A6C340545}"/>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5B0A81B-5380-29F6-BC0E-682572A0E4C6}"/>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8FE1447-3BB6-40D7-52C1-7906C3A841F2}"/>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27. Three Months Visitors Arrivals Forecasting </a:t>
            </a:r>
            <a:br>
              <a:rPr lang="en-US" sz="2800" b="1" dirty="0">
                <a:solidFill>
                  <a:schemeClr val="tx1">
                    <a:lumMod val="75000"/>
                    <a:lumOff val="25000"/>
                  </a:schemeClr>
                </a:solidFill>
              </a:rPr>
            </a:br>
            <a:r>
              <a:rPr lang="en-US" sz="2800" b="1" dirty="0">
                <a:solidFill>
                  <a:schemeClr val="tx1">
                    <a:lumMod val="75000"/>
                    <a:lumOff val="25000"/>
                  </a:schemeClr>
                </a:solidFill>
              </a:rPr>
              <a:t>FOREST Model</a:t>
            </a:r>
          </a:p>
        </p:txBody>
      </p:sp>
      <p:cxnSp>
        <p:nvCxnSpPr>
          <p:cNvPr id="14" name="Straight Connector 13">
            <a:extLst>
              <a:ext uri="{FF2B5EF4-FFF2-40B4-BE49-F238E27FC236}">
                <a16:creationId xmlns:a16="http://schemas.microsoft.com/office/drawing/2014/main" id="{07C2AD14-0D3D-D4BF-61EA-F14BDE7D3EDE}"/>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15E2CB73-6769-C3DF-B1C9-4C8EE778F541}"/>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DC2D8760-49B9-EF9B-7A47-A4AB4B0D0E33}"/>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00F91F2B-E54B-C8E0-12AF-B93E39287D72}"/>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EDCAD63F-9B90-AB53-E1DA-4156DCFFFCC6}"/>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AB9FEADC-A7B5-A4DF-E704-755DDE8AD74D}"/>
              </a:ext>
            </a:extLst>
          </p:cNvPr>
          <p:cNvSpPr txBox="1"/>
          <p:nvPr/>
        </p:nvSpPr>
        <p:spPr>
          <a:xfrm>
            <a:off x="3926852" y="4416952"/>
            <a:ext cx="4206024" cy="584775"/>
          </a:xfrm>
          <a:prstGeom prst="rect">
            <a:avLst/>
          </a:prstGeom>
          <a:noFill/>
        </p:spPr>
        <p:txBody>
          <a:bodyPr wrap="square">
            <a:spAutoFit/>
          </a:bodyPr>
          <a:lstStyle/>
          <a:p>
            <a:r>
              <a:rPr lang="en-US" sz="1600" dirty="0"/>
              <a:t>Hold-out Accuracy – Visitors Arrivals</a:t>
            </a:r>
            <a:br>
              <a:rPr lang="en-US" sz="1600" dirty="0"/>
            </a:br>
            <a:endParaRPr lang="en-NZ" sz="1600" dirty="0"/>
          </a:p>
        </p:txBody>
      </p:sp>
      <p:pic>
        <p:nvPicPr>
          <p:cNvPr id="2" name="Content Placeholder 5">
            <a:extLst>
              <a:ext uri="{FF2B5EF4-FFF2-40B4-BE49-F238E27FC236}">
                <a16:creationId xmlns:a16="http://schemas.microsoft.com/office/drawing/2014/main" id="{C5404975-CC48-3736-5840-0089557E61D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60399" y="966097"/>
            <a:ext cx="7952768" cy="3331821"/>
          </a:xfrm>
          <a:prstGeom prst="rect">
            <a:avLst/>
          </a:prstGeom>
        </p:spPr>
      </p:pic>
      <p:pic>
        <p:nvPicPr>
          <p:cNvPr id="3" name="Content Placeholder 5">
            <a:extLst>
              <a:ext uri="{FF2B5EF4-FFF2-40B4-BE49-F238E27FC236}">
                <a16:creationId xmlns:a16="http://schemas.microsoft.com/office/drawing/2014/main" id="{075A7B5E-1F0C-B135-267E-C58C471A9EA3}"/>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417157" y="4770408"/>
            <a:ext cx="2494576" cy="2008990"/>
          </a:xfrm>
          <a:prstGeom prst="rect">
            <a:avLst/>
          </a:prstGeom>
        </p:spPr>
      </p:pic>
    </p:spTree>
    <p:extLst>
      <p:ext uri="{BB962C8B-B14F-4D97-AF65-F5344CB8AC3E}">
        <p14:creationId xmlns:p14="http://schemas.microsoft.com/office/powerpoint/2010/main" val="12024868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A14B2-BDB7-E243-59D3-6AA62E193EA1}"/>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2B9C854B-96BF-7F18-A570-2D3EDDCD64C4}"/>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10F2B38-6C03-FABA-32A5-0DF01A5826DD}"/>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28. Three Months Visitors Arrivals Forecasting </a:t>
            </a:r>
            <a:br>
              <a:rPr lang="en-US" sz="2800" b="1" dirty="0">
                <a:solidFill>
                  <a:schemeClr val="tx1">
                    <a:lumMod val="75000"/>
                    <a:lumOff val="25000"/>
                  </a:schemeClr>
                </a:solidFill>
              </a:rPr>
            </a:br>
            <a:r>
              <a:rPr lang="en-US" sz="2800" b="1" dirty="0">
                <a:solidFill>
                  <a:schemeClr val="tx1">
                    <a:lumMod val="75000"/>
                    <a:lumOff val="25000"/>
                  </a:schemeClr>
                </a:solidFill>
              </a:rPr>
              <a:t>SARIMAX Model</a:t>
            </a:r>
          </a:p>
        </p:txBody>
      </p:sp>
      <p:cxnSp>
        <p:nvCxnSpPr>
          <p:cNvPr id="14" name="Straight Connector 13">
            <a:extLst>
              <a:ext uri="{FF2B5EF4-FFF2-40B4-BE49-F238E27FC236}">
                <a16:creationId xmlns:a16="http://schemas.microsoft.com/office/drawing/2014/main" id="{E328A4AD-314F-4A4C-05C2-373CE7F486F3}"/>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A4945877-3289-96AC-6EBD-8B237F3CB74C}"/>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0FCEFEAF-82CF-2B81-CBDD-4323FE805DAB}"/>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FD8A8802-0015-AECD-28CF-29E7E5013C40}"/>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50E2FBE4-AB37-0DE7-26E8-4943264D021A}"/>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6450C627-B576-9202-6578-0C3ADD4B6CA6}"/>
              </a:ext>
            </a:extLst>
          </p:cNvPr>
          <p:cNvSpPr txBox="1"/>
          <p:nvPr/>
        </p:nvSpPr>
        <p:spPr>
          <a:xfrm>
            <a:off x="3926852" y="4416952"/>
            <a:ext cx="4206024" cy="584775"/>
          </a:xfrm>
          <a:prstGeom prst="rect">
            <a:avLst/>
          </a:prstGeom>
          <a:noFill/>
        </p:spPr>
        <p:txBody>
          <a:bodyPr wrap="square">
            <a:spAutoFit/>
          </a:bodyPr>
          <a:lstStyle/>
          <a:p>
            <a:r>
              <a:rPr lang="en-US" sz="1600" dirty="0"/>
              <a:t>Hold-out Accuracy – Visitors Arrivals</a:t>
            </a:r>
            <a:br>
              <a:rPr lang="en-US" sz="1600" dirty="0"/>
            </a:br>
            <a:endParaRPr lang="en-NZ" sz="1600" dirty="0"/>
          </a:p>
        </p:txBody>
      </p:sp>
      <p:pic>
        <p:nvPicPr>
          <p:cNvPr id="5" name="Content Placeholder 5">
            <a:extLst>
              <a:ext uri="{FF2B5EF4-FFF2-40B4-BE49-F238E27FC236}">
                <a16:creationId xmlns:a16="http://schemas.microsoft.com/office/drawing/2014/main" id="{7A8A3474-3CA2-1D73-89FB-FCF17A138C7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52052" y="1021369"/>
            <a:ext cx="8171842" cy="3395583"/>
          </a:xfrm>
          <a:prstGeom prst="rect">
            <a:avLst/>
          </a:prstGeom>
        </p:spPr>
      </p:pic>
      <p:pic>
        <p:nvPicPr>
          <p:cNvPr id="7" name="Content Placeholder 5">
            <a:extLst>
              <a:ext uri="{FF2B5EF4-FFF2-40B4-BE49-F238E27FC236}">
                <a16:creationId xmlns:a16="http://schemas.microsoft.com/office/drawing/2014/main" id="{0A6EB7B0-2092-DDD2-DB83-FCEBB9086F9B}"/>
              </a:ext>
            </a:extLst>
          </p:cNvPr>
          <p:cNvPicPr>
            <a:picLocks noChangeAspect="1"/>
          </p:cNvPicPr>
          <p:nvPr/>
        </p:nvPicPr>
        <p:blipFill>
          <a:blip r:embed="rId4">
            <a:extLst>
              <a:ext uri="{28A0092B-C50C-407E-A947-70E740481C1C}">
                <a14:useLocalDpi xmlns:a14="http://schemas.microsoft.com/office/drawing/2010/main"/>
              </a:ext>
            </a:extLst>
          </a:blip>
          <a:srcRect t="10519"/>
          <a:stretch>
            <a:fillRect/>
          </a:stretch>
        </p:blipFill>
        <p:spPr>
          <a:xfrm>
            <a:off x="4425351" y="4763519"/>
            <a:ext cx="2544792" cy="1991308"/>
          </a:xfrm>
          <a:prstGeom prst="rect">
            <a:avLst/>
          </a:prstGeom>
        </p:spPr>
      </p:pic>
    </p:spTree>
    <p:extLst>
      <p:ext uri="{BB962C8B-B14F-4D97-AF65-F5344CB8AC3E}">
        <p14:creationId xmlns:p14="http://schemas.microsoft.com/office/powerpoint/2010/main" val="3844706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78F7D-D873-9CC2-EC78-D0A1F8AEED18}"/>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9D3A7E4-2733-D318-579C-C2095960A765}"/>
              </a:ext>
              <a:ext uri="{C183D7F6-B498-43B3-948B-1728B52AA6E4}">
                <adec:decorative xmlns:adec="http://schemas.microsoft.com/office/drawing/2017/decorative" val="1"/>
              </a:ext>
            </a:extLst>
          </p:cNvPr>
          <p:cNvCxnSpPr>
            <a:cxnSpLocks/>
          </p:cNvCxnSpPr>
          <p:nvPr/>
        </p:nvCxnSpPr>
        <p:spPr>
          <a:xfrm>
            <a:off x="10023894" y="797664"/>
            <a:ext cx="2168106"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D5439FF-4CF1-8889-CF78-0CF692C2EA2E}"/>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29. Three Months Visitors Arrivals Forecasting </a:t>
            </a:r>
            <a:br>
              <a:rPr lang="en-US" sz="2800" b="1" dirty="0">
                <a:solidFill>
                  <a:schemeClr val="tx1">
                    <a:lumMod val="75000"/>
                    <a:lumOff val="25000"/>
                  </a:schemeClr>
                </a:solidFill>
              </a:rPr>
            </a:br>
            <a:r>
              <a:rPr lang="en-US" sz="2800" b="1" dirty="0">
                <a:solidFill>
                  <a:schemeClr val="tx1">
                    <a:lumMod val="75000"/>
                    <a:lumOff val="25000"/>
                  </a:schemeClr>
                </a:solidFill>
              </a:rPr>
              <a:t>VAR Model</a:t>
            </a:r>
          </a:p>
        </p:txBody>
      </p:sp>
      <p:cxnSp>
        <p:nvCxnSpPr>
          <p:cNvPr id="14" name="Straight Connector 13">
            <a:extLst>
              <a:ext uri="{FF2B5EF4-FFF2-40B4-BE49-F238E27FC236}">
                <a16:creationId xmlns:a16="http://schemas.microsoft.com/office/drawing/2014/main" id="{2E7164BA-4354-DD64-CC39-EE52030FDFD9}"/>
              </a:ext>
              <a:ext uri="{C183D7F6-B498-43B3-948B-1728B52AA6E4}">
                <adec:decorative xmlns:adec="http://schemas.microsoft.com/office/drawing/2017/decorative" val="1"/>
              </a:ext>
            </a:extLst>
          </p:cNvPr>
          <p:cNvCxnSpPr>
            <a:cxnSpLocks/>
          </p:cNvCxnSpPr>
          <p:nvPr/>
        </p:nvCxnSpPr>
        <p:spPr>
          <a:xfrm flipV="1">
            <a:off x="0" y="806947"/>
            <a:ext cx="2061713" cy="22566"/>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4ACED4CE-3A63-440B-C1AA-E1D1BC1CA367}"/>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48F9CF2C-3256-A3D9-7F9E-33909C797128}"/>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31F17FB6-2DC5-149D-60A7-0CC1471D9BE8}"/>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2BD1FCDE-D74D-9FFC-69AE-F096C2B2AC94}"/>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3FE0B18A-BDE3-51EB-2063-2C6799EDEF86}"/>
              </a:ext>
            </a:extLst>
          </p:cNvPr>
          <p:cNvSpPr txBox="1"/>
          <p:nvPr/>
        </p:nvSpPr>
        <p:spPr>
          <a:xfrm>
            <a:off x="3926852" y="4416952"/>
            <a:ext cx="4206024" cy="584775"/>
          </a:xfrm>
          <a:prstGeom prst="rect">
            <a:avLst/>
          </a:prstGeom>
          <a:noFill/>
        </p:spPr>
        <p:txBody>
          <a:bodyPr wrap="square">
            <a:spAutoFit/>
          </a:bodyPr>
          <a:lstStyle/>
          <a:p>
            <a:r>
              <a:rPr lang="en-US" sz="1600" dirty="0"/>
              <a:t>Hold-out Accuracy – Visitors Arrivals</a:t>
            </a:r>
            <a:br>
              <a:rPr lang="en-US" sz="1600" dirty="0"/>
            </a:br>
            <a:endParaRPr lang="en-NZ" sz="1600" dirty="0"/>
          </a:p>
        </p:txBody>
      </p:sp>
      <p:pic>
        <p:nvPicPr>
          <p:cNvPr id="2" name="Content Placeholder 5">
            <a:extLst>
              <a:ext uri="{FF2B5EF4-FFF2-40B4-BE49-F238E27FC236}">
                <a16:creationId xmlns:a16="http://schemas.microsoft.com/office/drawing/2014/main" id="{CB95B411-58FA-C756-8D7C-EB083EEFA6F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29754" y="1079047"/>
            <a:ext cx="8200219" cy="3441644"/>
          </a:xfrm>
          <a:prstGeom prst="rect">
            <a:avLst/>
          </a:prstGeom>
        </p:spPr>
      </p:pic>
      <p:pic>
        <p:nvPicPr>
          <p:cNvPr id="3" name="Content Placeholder 5">
            <a:extLst>
              <a:ext uri="{FF2B5EF4-FFF2-40B4-BE49-F238E27FC236}">
                <a16:creationId xmlns:a16="http://schemas.microsoft.com/office/drawing/2014/main" id="{82ECDF4E-FDE6-327C-C22B-09DBA536D593}"/>
              </a:ext>
            </a:extLst>
          </p:cNvPr>
          <p:cNvPicPr>
            <a:picLocks noChangeAspect="1"/>
          </p:cNvPicPr>
          <p:nvPr/>
        </p:nvPicPr>
        <p:blipFill>
          <a:blip r:embed="rId4">
            <a:extLst>
              <a:ext uri="{28A0092B-C50C-407E-A947-70E740481C1C}">
                <a14:useLocalDpi xmlns:a14="http://schemas.microsoft.com/office/drawing/2010/main"/>
              </a:ext>
            </a:extLst>
          </a:blip>
          <a:srcRect t="8073" b="6463"/>
          <a:stretch>
            <a:fillRect/>
          </a:stretch>
        </p:blipFill>
        <p:spPr>
          <a:xfrm>
            <a:off x="4376850" y="4758740"/>
            <a:ext cx="2645052" cy="2040426"/>
          </a:xfrm>
          <a:prstGeom prst="rect">
            <a:avLst/>
          </a:prstGeom>
        </p:spPr>
      </p:pic>
    </p:spTree>
    <p:extLst>
      <p:ext uri="{BB962C8B-B14F-4D97-AF65-F5344CB8AC3E}">
        <p14:creationId xmlns:p14="http://schemas.microsoft.com/office/powerpoint/2010/main" val="4860934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5DF9-6838-F25A-7F8C-CE4F85E0E7C1}"/>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5DDF029-81C1-85D2-E55F-E834BB0F5586}"/>
              </a:ext>
              <a:ext uri="{C183D7F6-B498-43B3-948B-1728B52AA6E4}">
                <adec:decorative xmlns:adec="http://schemas.microsoft.com/office/drawing/2017/decorative" val="1"/>
              </a:ext>
            </a:extLst>
          </p:cNvPr>
          <p:cNvCxnSpPr>
            <a:cxnSpLocks/>
          </p:cNvCxnSpPr>
          <p:nvPr/>
        </p:nvCxnSpPr>
        <p:spPr>
          <a:xfrm>
            <a:off x="8540151" y="522898"/>
            <a:ext cx="36518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732F70CE-6E32-3F15-4430-E7710119010C}"/>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30. Dashboard Overview</a:t>
            </a:r>
          </a:p>
        </p:txBody>
      </p:sp>
      <p:cxnSp>
        <p:nvCxnSpPr>
          <p:cNvPr id="14" name="Straight Connector 13">
            <a:extLst>
              <a:ext uri="{FF2B5EF4-FFF2-40B4-BE49-F238E27FC236}">
                <a16:creationId xmlns:a16="http://schemas.microsoft.com/office/drawing/2014/main" id="{FFC415B3-017D-CC3C-E6A3-F45616A534D2}"/>
              </a:ext>
              <a:ext uri="{C183D7F6-B498-43B3-948B-1728B52AA6E4}">
                <adec:decorative xmlns:adec="http://schemas.microsoft.com/office/drawing/2017/decorative" val="1"/>
              </a:ext>
            </a:extLst>
          </p:cNvPr>
          <p:cNvCxnSpPr>
            <a:cxnSpLocks/>
          </p:cNvCxnSpPr>
          <p:nvPr/>
        </p:nvCxnSpPr>
        <p:spPr>
          <a:xfrm>
            <a:off x="0" y="522898"/>
            <a:ext cx="366622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0206A639-5E73-AB58-9619-3E37F37183E5}"/>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2450151E-CD5E-BA63-4ED2-2EFBEE118A6B}"/>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947D532A-D428-7536-C1BC-D89924B48588}"/>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31E8CF88-AB18-B6A9-7E9D-AA893B2EE11A}"/>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EE30C8C3-D1ED-D984-657E-11175AAE96E5}"/>
              </a:ext>
            </a:extLst>
          </p:cNvPr>
          <p:cNvSpPr txBox="1"/>
          <p:nvPr/>
        </p:nvSpPr>
        <p:spPr>
          <a:xfrm>
            <a:off x="228600" y="1305342"/>
            <a:ext cx="11667226" cy="2554545"/>
          </a:xfrm>
          <a:prstGeom prst="rect">
            <a:avLst/>
          </a:prstGeom>
          <a:noFill/>
        </p:spPr>
        <p:txBody>
          <a:bodyPr wrap="square">
            <a:spAutoFit/>
          </a:bodyPr>
          <a:lstStyle/>
          <a:p>
            <a:pPr>
              <a:buNone/>
            </a:pPr>
            <a:r>
              <a:rPr lang="en-US" sz="2000" dirty="0"/>
              <a:t>The dashboard was designed to turn our forecasting results into an easy-to-understand visual tool for stakeholders.</a:t>
            </a:r>
            <a:br>
              <a:rPr lang="en-US" sz="2000" dirty="0"/>
            </a:br>
            <a:br>
              <a:rPr lang="en-US" sz="2000" dirty="0"/>
            </a:br>
            <a:r>
              <a:rPr lang="en-US" sz="2000" b="1" dirty="0"/>
              <a:t>It consists of four main pages:</a:t>
            </a:r>
            <a:br>
              <a:rPr lang="en-US" sz="2000" dirty="0"/>
            </a:br>
            <a:r>
              <a:rPr lang="en-US" sz="2000" dirty="0"/>
              <a:t>1. Summary Page</a:t>
            </a:r>
            <a:br>
              <a:rPr lang="en-US" sz="2000" dirty="0"/>
            </a:br>
            <a:r>
              <a:rPr lang="en-US" sz="2000" dirty="0"/>
              <a:t>2. Guest Nights</a:t>
            </a:r>
            <a:br>
              <a:rPr lang="en-US" sz="2000" dirty="0"/>
            </a:br>
            <a:r>
              <a:rPr lang="en-US" sz="2000" dirty="0"/>
              <a:t>3. Visitor Arrivals</a:t>
            </a:r>
            <a:br>
              <a:rPr lang="en-US" sz="2000" dirty="0"/>
            </a:br>
            <a:r>
              <a:rPr lang="en-US" sz="2000" dirty="0"/>
              <a:t>4. Domestic and International Spend</a:t>
            </a:r>
          </a:p>
        </p:txBody>
      </p:sp>
    </p:spTree>
    <p:extLst>
      <p:ext uri="{BB962C8B-B14F-4D97-AF65-F5344CB8AC3E}">
        <p14:creationId xmlns:p14="http://schemas.microsoft.com/office/powerpoint/2010/main" val="3674978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1CB7-71B2-8A64-29F5-F4EF1C5DC0B7}"/>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E1F3326-45F3-BD4A-BEB0-6A6F0E221812}"/>
              </a:ext>
              <a:ext uri="{C183D7F6-B498-43B3-948B-1728B52AA6E4}">
                <adec:decorative xmlns:adec="http://schemas.microsoft.com/office/drawing/2017/decorative" val="1"/>
              </a:ext>
            </a:extLst>
          </p:cNvPr>
          <p:cNvCxnSpPr>
            <a:cxnSpLocks/>
          </p:cNvCxnSpPr>
          <p:nvPr/>
        </p:nvCxnSpPr>
        <p:spPr>
          <a:xfrm>
            <a:off x="8540151" y="522898"/>
            <a:ext cx="36518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77EF5D2-DA3B-BF06-40F5-56C614735C67}"/>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31. Summary Page</a:t>
            </a:r>
          </a:p>
        </p:txBody>
      </p:sp>
      <p:cxnSp>
        <p:nvCxnSpPr>
          <p:cNvPr id="14" name="Straight Connector 13">
            <a:extLst>
              <a:ext uri="{FF2B5EF4-FFF2-40B4-BE49-F238E27FC236}">
                <a16:creationId xmlns:a16="http://schemas.microsoft.com/office/drawing/2014/main" id="{DCEE32B4-B622-69FA-733C-7FA97193D21F}"/>
              </a:ext>
              <a:ext uri="{C183D7F6-B498-43B3-948B-1728B52AA6E4}">
                <adec:decorative xmlns:adec="http://schemas.microsoft.com/office/drawing/2017/decorative" val="1"/>
              </a:ext>
            </a:extLst>
          </p:cNvPr>
          <p:cNvCxnSpPr>
            <a:cxnSpLocks/>
          </p:cNvCxnSpPr>
          <p:nvPr/>
        </p:nvCxnSpPr>
        <p:spPr>
          <a:xfrm>
            <a:off x="0" y="522898"/>
            <a:ext cx="366622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0CBAFCB3-D29A-7A57-3664-AB8DF249440C}"/>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44E7F650-1559-09C1-850B-EB6D1B9B3A2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F0F353D1-C2E8-D0AC-F6E9-5A4B2DDF7C3F}"/>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1AFDD02A-D8A2-B76D-2EDE-3EA7FF7EC953}"/>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AE3F7CF0-340F-9FA2-AA35-212646B3C19D}"/>
              </a:ext>
            </a:extLst>
          </p:cNvPr>
          <p:cNvSpPr txBox="1"/>
          <p:nvPr/>
        </p:nvSpPr>
        <p:spPr>
          <a:xfrm>
            <a:off x="228600" y="1305342"/>
            <a:ext cx="3989717" cy="3170099"/>
          </a:xfrm>
          <a:prstGeom prst="rect">
            <a:avLst/>
          </a:prstGeom>
          <a:noFill/>
        </p:spPr>
        <p:txBody>
          <a:bodyPr wrap="square">
            <a:spAutoFit/>
          </a:bodyPr>
          <a:lstStyle/>
          <a:p>
            <a:pPr>
              <a:buNone/>
            </a:pPr>
            <a:r>
              <a:rPr lang="en-US" sz="2000" dirty="0"/>
              <a:t>• Displays KPIs for visitor arrivals, spend, and model accuracy.</a:t>
            </a:r>
          </a:p>
          <a:p>
            <a:pPr>
              <a:buNone/>
            </a:pPr>
            <a:br>
              <a:rPr lang="en-US" sz="2000" dirty="0"/>
            </a:br>
            <a:r>
              <a:rPr lang="en-US" sz="2000" dirty="0"/>
              <a:t>• Donut chart compares domestic vs. international spend.</a:t>
            </a:r>
            <a:br>
              <a:rPr lang="en-US" sz="2000" dirty="0"/>
            </a:br>
            <a:r>
              <a:rPr lang="en-US" sz="2000" dirty="0"/>
              <a:t>• Bar chart shows historical vs. predicted guest nights.</a:t>
            </a:r>
          </a:p>
          <a:p>
            <a:pPr>
              <a:buNone/>
            </a:pPr>
            <a:br>
              <a:rPr lang="en-US" sz="2000" dirty="0"/>
            </a:br>
            <a:r>
              <a:rPr lang="en-US" sz="2000" dirty="0"/>
              <a:t>• Provides a quick snapshot of tourism performance.</a:t>
            </a:r>
          </a:p>
        </p:txBody>
      </p:sp>
      <p:pic>
        <p:nvPicPr>
          <p:cNvPr id="2" name="Picture 1">
            <a:extLst>
              <a:ext uri="{FF2B5EF4-FFF2-40B4-BE49-F238E27FC236}">
                <a16:creationId xmlns:a16="http://schemas.microsoft.com/office/drawing/2014/main" id="{49B41AED-8A74-B9A0-EE37-36783BEF689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775215" y="1026543"/>
            <a:ext cx="6963840" cy="5211175"/>
          </a:xfrm>
          <a:prstGeom prst="rect">
            <a:avLst/>
          </a:prstGeom>
        </p:spPr>
      </p:pic>
    </p:spTree>
    <p:extLst>
      <p:ext uri="{BB962C8B-B14F-4D97-AF65-F5344CB8AC3E}">
        <p14:creationId xmlns:p14="http://schemas.microsoft.com/office/powerpoint/2010/main" val="1603300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1572F-5763-1024-6B66-EC318831D0ED}"/>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E1765300-AD2F-32E1-7823-08EE27B9915A}"/>
              </a:ext>
              <a:ext uri="{C183D7F6-B498-43B3-948B-1728B52AA6E4}">
                <adec:decorative xmlns:adec="http://schemas.microsoft.com/office/drawing/2017/decorative" val="1"/>
              </a:ext>
            </a:extLst>
          </p:cNvPr>
          <p:cNvCxnSpPr>
            <a:cxnSpLocks/>
          </p:cNvCxnSpPr>
          <p:nvPr/>
        </p:nvCxnSpPr>
        <p:spPr>
          <a:xfrm>
            <a:off x="8540151" y="522898"/>
            <a:ext cx="36518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8211781-B9AC-2AEC-7438-2E58C6C1C172}"/>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32. Guest Nights Page</a:t>
            </a:r>
          </a:p>
        </p:txBody>
      </p:sp>
      <p:cxnSp>
        <p:nvCxnSpPr>
          <p:cNvPr id="14" name="Straight Connector 13">
            <a:extLst>
              <a:ext uri="{FF2B5EF4-FFF2-40B4-BE49-F238E27FC236}">
                <a16:creationId xmlns:a16="http://schemas.microsoft.com/office/drawing/2014/main" id="{21D55545-7ACF-3543-3F23-54EC3B385175}"/>
              </a:ext>
              <a:ext uri="{C183D7F6-B498-43B3-948B-1728B52AA6E4}">
                <adec:decorative xmlns:adec="http://schemas.microsoft.com/office/drawing/2017/decorative" val="1"/>
              </a:ext>
            </a:extLst>
          </p:cNvPr>
          <p:cNvCxnSpPr>
            <a:cxnSpLocks/>
          </p:cNvCxnSpPr>
          <p:nvPr/>
        </p:nvCxnSpPr>
        <p:spPr>
          <a:xfrm>
            <a:off x="0" y="522898"/>
            <a:ext cx="366622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F8339EC2-4CBE-D771-93C3-7EA77276E00D}"/>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7E340C42-57DB-A18E-1A9C-0005FD1097A5}"/>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9FC9888D-F0EB-32CF-0638-DA63D42558E4}"/>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58AACC82-0F8E-7E06-5C67-D56A396DB3DA}"/>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27A9E58D-2A45-8F03-D8F5-D5281AC5D6E3}"/>
              </a:ext>
            </a:extLst>
          </p:cNvPr>
          <p:cNvSpPr txBox="1"/>
          <p:nvPr/>
        </p:nvSpPr>
        <p:spPr>
          <a:xfrm>
            <a:off x="524774" y="659672"/>
            <a:ext cx="11667226" cy="1631216"/>
          </a:xfrm>
          <a:prstGeom prst="rect">
            <a:avLst/>
          </a:prstGeom>
          <a:noFill/>
        </p:spPr>
        <p:txBody>
          <a:bodyPr wrap="square">
            <a:spAutoFit/>
          </a:bodyPr>
          <a:lstStyle/>
          <a:p>
            <a:pPr>
              <a:buNone/>
            </a:pPr>
            <a:endParaRPr lang="en-US" sz="2000" dirty="0"/>
          </a:p>
          <a:p>
            <a:pPr>
              <a:buNone/>
            </a:pPr>
            <a:r>
              <a:rPr lang="en-US" sz="2000" dirty="0"/>
              <a:t>• Focuses on accommodation data.</a:t>
            </a:r>
            <a:br>
              <a:rPr lang="en-US" sz="2000" dirty="0"/>
            </a:br>
            <a:r>
              <a:rPr lang="en-US" sz="2000" dirty="0"/>
              <a:t>• Line chart compares historical and predicted guest nights.</a:t>
            </a:r>
            <a:br>
              <a:rPr lang="en-US" sz="2000" dirty="0"/>
            </a:br>
            <a:r>
              <a:rPr lang="en-US" sz="2000" dirty="0"/>
              <a:t>• Highlights seasonal patterns and recovery after 2023.</a:t>
            </a:r>
          </a:p>
          <a:p>
            <a:pPr>
              <a:buNone/>
            </a:pPr>
            <a:endParaRPr lang="en-US" sz="2000" dirty="0"/>
          </a:p>
        </p:txBody>
      </p:sp>
      <p:pic>
        <p:nvPicPr>
          <p:cNvPr id="2" name="Picture 1">
            <a:extLst>
              <a:ext uri="{FF2B5EF4-FFF2-40B4-BE49-F238E27FC236}">
                <a16:creationId xmlns:a16="http://schemas.microsoft.com/office/drawing/2014/main" id="{2AAB07ED-A6E5-9151-8AC6-6D2E712C41D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34838" y="2239589"/>
            <a:ext cx="10660996" cy="4301122"/>
          </a:xfrm>
          <a:prstGeom prst="rect">
            <a:avLst/>
          </a:prstGeom>
        </p:spPr>
      </p:pic>
    </p:spTree>
    <p:extLst>
      <p:ext uri="{BB962C8B-B14F-4D97-AF65-F5344CB8AC3E}">
        <p14:creationId xmlns:p14="http://schemas.microsoft.com/office/powerpoint/2010/main" val="1580029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79085-EC53-6050-27CD-A72991258025}"/>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45A78AF-76AF-2B3F-115B-0A34D4750F97}"/>
              </a:ext>
              <a:ext uri="{C183D7F6-B498-43B3-948B-1728B52AA6E4}">
                <adec:decorative xmlns:adec="http://schemas.microsoft.com/office/drawing/2017/decorative" val="1"/>
              </a:ext>
            </a:extLst>
          </p:cNvPr>
          <p:cNvCxnSpPr>
            <a:cxnSpLocks/>
          </p:cNvCxnSpPr>
          <p:nvPr/>
        </p:nvCxnSpPr>
        <p:spPr>
          <a:xfrm>
            <a:off x="8540151" y="522898"/>
            <a:ext cx="36518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C45FD164-0C72-A6E4-0F02-55BE073CFCF4}"/>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33. Visitor Arrivals Page</a:t>
            </a:r>
          </a:p>
        </p:txBody>
      </p:sp>
      <p:cxnSp>
        <p:nvCxnSpPr>
          <p:cNvPr id="14" name="Straight Connector 13">
            <a:extLst>
              <a:ext uri="{FF2B5EF4-FFF2-40B4-BE49-F238E27FC236}">
                <a16:creationId xmlns:a16="http://schemas.microsoft.com/office/drawing/2014/main" id="{E0C0CB0C-81A1-E6AE-754C-482BD400616C}"/>
              </a:ext>
              <a:ext uri="{C183D7F6-B498-43B3-948B-1728B52AA6E4}">
                <adec:decorative xmlns:adec="http://schemas.microsoft.com/office/drawing/2017/decorative" val="1"/>
              </a:ext>
            </a:extLst>
          </p:cNvPr>
          <p:cNvCxnSpPr>
            <a:cxnSpLocks/>
          </p:cNvCxnSpPr>
          <p:nvPr/>
        </p:nvCxnSpPr>
        <p:spPr>
          <a:xfrm>
            <a:off x="0" y="522898"/>
            <a:ext cx="366622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28A28478-FFDF-6B2B-01D1-7629181149D2}"/>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CA875A29-DF08-A7FC-5D32-40D092028F9E}"/>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A0971FD2-8FC8-BC91-A864-C17916BDAB85}"/>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0117F44D-0B69-56B7-93BB-EAFE6ACEFB24}"/>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3488B3B8-B7EE-59C9-1195-EC4D106CA47A}"/>
              </a:ext>
            </a:extLst>
          </p:cNvPr>
          <p:cNvSpPr txBox="1"/>
          <p:nvPr/>
        </p:nvSpPr>
        <p:spPr>
          <a:xfrm>
            <a:off x="524774" y="659672"/>
            <a:ext cx="11667226" cy="1631216"/>
          </a:xfrm>
          <a:prstGeom prst="rect">
            <a:avLst/>
          </a:prstGeom>
          <a:noFill/>
        </p:spPr>
        <p:txBody>
          <a:bodyPr wrap="square">
            <a:spAutoFit/>
          </a:bodyPr>
          <a:lstStyle/>
          <a:p>
            <a:pPr>
              <a:buNone/>
            </a:pPr>
            <a:endParaRPr lang="en-US" sz="2000" dirty="0"/>
          </a:p>
          <a:p>
            <a:pPr>
              <a:buNone/>
            </a:pPr>
            <a:r>
              <a:rPr lang="en-US" sz="2000" dirty="0"/>
              <a:t>• Compares domestic and international visitor forecasts.</a:t>
            </a:r>
            <a:br>
              <a:rPr lang="en-US" sz="2000" dirty="0"/>
            </a:br>
            <a:r>
              <a:rPr lang="en-US" sz="2000" dirty="0"/>
              <a:t>• Domestic arrivals show steady trends.</a:t>
            </a:r>
            <a:br>
              <a:rPr lang="en-US" sz="2000" dirty="0"/>
            </a:br>
            <a:r>
              <a:rPr lang="en-US" sz="2000" dirty="0"/>
              <a:t>• International arrivals display post-pandemic recovery.</a:t>
            </a:r>
          </a:p>
          <a:p>
            <a:pPr>
              <a:buNone/>
            </a:pPr>
            <a:endParaRPr lang="en-US" sz="2000" dirty="0"/>
          </a:p>
        </p:txBody>
      </p:sp>
      <p:pic>
        <p:nvPicPr>
          <p:cNvPr id="3" name="Picture 2">
            <a:extLst>
              <a:ext uri="{FF2B5EF4-FFF2-40B4-BE49-F238E27FC236}">
                <a16:creationId xmlns:a16="http://schemas.microsoft.com/office/drawing/2014/main" id="{26493281-41EB-F2BA-8E83-8FE44E2FC82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40947" y="2290888"/>
            <a:ext cx="9025128" cy="3886200"/>
          </a:xfrm>
          <a:prstGeom prst="rect">
            <a:avLst/>
          </a:prstGeom>
        </p:spPr>
      </p:pic>
    </p:spTree>
    <p:extLst>
      <p:ext uri="{BB962C8B-B14F-4D97-AF65-F5344CB8AC3E}">
        <p14:creationId xmlns:p14="http://schemas.microsoft.com/office/powerpoint/2010/main" val="11015955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A12E-7426-7E48-8D0F-D34D8F402FDF}"/>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70EBFB8-49FF-DA29-229D-D72BB276DBC0}"/>
              </a:ext>
              <a:ext uri="{C183D7F6-B498-43B3-948B-1728B52AA6E4}">
                <adec:decorative xmlns:adec="http://schemas.microsoft.com/office/drawing/2017/decorative" val="1"/>
              </a:ext>
            </a:extLst>
          </p:cNvPr>
          <p:cNvCxnSpPr>
            <a:cxnSpLocks/>
          </p:cNvCxnSpPr>
          <p:nvPr/>
        </p:nvCxnSpPr>
        <p:spPr>
          <a:xfrm>
            <a:off x="8540151" y="522898"/>
            <a:ext cx="36518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B474A56-D9DB-BFBC-B098-361227205E3F}"/>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34. Spending Page</a:t>
            </a:r>
          </a:p>
        </p:txBody>
      </p:sp>
      <p:cxnSp>
        <p:nvCxnSpPr>
          <p:cNvPr id="14" name="Straight Connector 13">
            <a:extLst>
              <a:ext uri="{FF2B5EF4-FFF2-40B4-BE49-F238E27FC236}">
                <a16:creationId xmlns:a16="http://schemas.microsoft.com/office/drawing/2014/main" id="{5E3E5421-ADEC-4090-0FA5-3B1DD76685B5}"/>
              </a:ext>
              <a:ext uri="{C183D7F6-B498-43B3-948B-1728B52AA6E4}">
                <adec:decorative xmlns:adec="http://schemas.microsoft.com/office/drawing/2017/decorative" val="1"/>
              </a:ext>
            </a:extLst>
          </p:cNvPr>
          <p:cNvCxnSpPr>
            <a:cxnSpLocks/>
          </p:cNvCxnSpPr>
          <p:nvPr/>
        </p:nvCxnSpPr>
        <p:spPr>
          <a:xfrm>
            <a:off x="0" y="522898"/>
            <a:ext cx="366622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77FD7DCB-FBCE-A330-CBDE-3C22F6AFCEAA}"/>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71112F33-F680-5E78-5DFC-2012059894DB}"/>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303FD61F-6983-B243-026F-8B92A7824920}"/>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558F4D25-D5A8-D880-F881-9D462745B0A2}"/>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0669B793-886B-141E-BD6C-94577343DA1F}"/>
              </a:ext>
            </a:extLst>
          </p:cNvPr>
          <p:cNvSpPr txBox="1"/>
          <p:nvPr/>
        </p:nvSpPr>
        <p:spPr>
          <a:xfrm>
            <a:off x="524774" y="659672"/>
            <a:ext cx="11667226" cy="1938992"/>
          </a:xfrm>
          <a:prstGeom prst="rect">
            <a:avLst/>
          </a:prstGeom>
          <a:noFill/>
        </p:spPr>
        <p:txBody>
          <a:bodyPr wrap="square">
            <a:spAutoFit/>
          </a:bodyPr>
          <a:lstStyle/>
          <a:p>
            <a:pPr>
              <a:buNone/>
            </a:pPr>
            <a:endParaRPr lang="en-US" sz="2000" dirty="0"/>
          </a:p>
          <a:p>
            <a:pPr>
              <a:buNone/>
            </a:pPr>
            <a:r>
              <a:rPr lang="en-US" sz="2000" dirty="0"/>
              <a:t>• Focuses on predicted domestic and international expenditure.</a:t>
            </a:r>
            <a:br>
              <a:rPr lang="en-US" sz="2000" dirty="0"/>
            </a:br>
            <a:r>
              <a:rPr lang="en-US" sz="2000" dirty="0"/>
              <a:t>• Domestic spending shows consistent growth.</a:t>
            </a:r>
            <a:br>
              <a:rPr lang="en-US" sz="2000" dirty="0"/>
            </a:br>
            <a:r>
              <a:rPr lang="en-US" sz="2000" dirty="0"/>
              <a:t>• International spending recovering gradually.</a:t>
            </a:r>
            <a:br>
              <a:rPr lang="en-US" sz="2000" dirty="0"/>
            </a:br>
            <a:r>
              <a:rPr lang="en-US" sz="2000" dirty="0"/>
              <a:t>• Useful for forecasting revenue and planning budgets.</a:t>
            </a:r>
          </a:p>
          <a:p>
            <a:pPr>
              <a:buNone/>
            </a:pPr>
            <a:endParaRPr lang="en-US" sz="2000" dirty="0"/>
          </a:p>
        </p:txBody>
      </p:sp>
      <p:pic>
        <p:nvPicPr>
          <p:cNvPr id="3" name="Picture 2">
            <a:extLst>
              <a:ext uri="{FF2B5EF4-FFF2-40B4-BE49-F238E27FC236}">
                <a16:creationId xmlns:a16="http://schemas.microsoft.com/office/drawing/2014/main" id="{E17BDCF6-DDB7-07B6-D043-DD2972B8FB0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33435" y="2406141"/>
            <a:ext cx="9940499" cy="4202895"/>
          </a:xfrm>
          <a:prstGeom prst="rect">
            <a:avLst/>
          </a:prstGeom>
        </p:spPr>
      </p:pic>
    </p:spTree>
    <p:extLst>
      <p:ext uri="{BB962C8B-B14F-4D97-AF65-F5344CB8AC3E}">
        <p14:creationId xmlns:p14="http://schemas.microsoft.com/office/powerpoint/2010/main" val="2366770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A820-4F1D-2AFF-F8FA-F9AF7C203ADA}"/>
              </a:ext>
            </a:extLst>
          </p:cNvPr>
          <p:cNvSpPr>
            <a:spLocks noGrp="1"/>
          </p:cNvSpPr>
          <p:nvPr>
            <p:ph type="title"/>
          </p:nvPr>
        </p:nvSpPr>
        <p:spPr>
          <a:xfrm>
            <a:off x="3847381" y="239907"/>
            <a:ext cx="4114214" cy="648734"/>
          </a:xfrm>
        </p:spPr>
        <p:txBody>
          <a:bodyPr>
            <a:noAutofit/>
          </a:bodyPr>
          <a:lstStyle/>
          <a:p>
            <a:r>
              <a:rPr lang="en-IN" sz="2800" b="1" dirty="0"/>
              <a:t>35. Live demonstration</a:t>
            </a:r>
          </a:p>
        </p:txBody>
      </p:sp>
      <p:graphicFrame>
        <p:nvGraphicFramePr>
          <p:cNvPr id="4" name="Object 3">
            <a:extLst>
              <a:ext uri="{FF2B5EF4-FFF2-40B4-BE49-F238E27FC236}">
                <a16:creationId xmlns:a16="http://schemas.microsoft.com/office/drawing/2014/main" id="{29F6D488-3CB9-5B1B-E2BC-F2639E89ABFB}"/>
              </a:ext>
            </a:extLst>
          </p:cNvPr>
          <p:cNvGraphicFramePr>
            <a:graphicFrameLocks noChangeAspect="1"/>
          </p:cNvGraphicFramePr>
          <p:nvPr/>
        </p:nvGraphicFramePr>
        <p:xfrm>
          <a:off x="3031408" y="1859220"/>
          <a:ext cx="5918200" cy="2035175"/>
        </p:xfrm>
        <a:graphic>
          <a:graphicData uri="http://schemas.openxmlformats.org/presentationml/2006/ole">
            <mc:AlternateContent xmlns:mc="http://schemas.openxmlformats.org/markup-compatibility/2006">
              <mc:Choice xmlns:v="urn:schemas-microsoft-com:vml" Requires="v">
                <p:oleObj name="Packager Shell Object" showAsIcon="1" r:id="rId2" imgW="1599480" imgH="437400" progId="Package">
                  <p:embed/>
                </p:oleObj>
              </mc:Choice>
              <mc:Fallback>
                <p:oleObj name="Packager Shell Object" showAsIcon="1" r:id="rId2" imgW="1599480" imgH="437400" progId="Package">
                  <p:embed/>
                  <p:pic>
                    <p:nvPicPr>
                      <p:cNvPr id="4" name="Object 3">
                        <a:extLst>
                          <a:ext uri="{FF2B5EF4-FFF2-40B4-BE49-F238E27FC236}">
                            <a16:creationId xmlns:a16="http://schemas.microsoft.com/office/drawing/2014/main" id="{29F6D488-3CB9-5B1B-E2BC-F2639E89ABFB}"/>
                          </a:ext>
                        </a:extLst>
                      </p:cNvPr>
                      <p:cNvPicPr/>
                      <p:nvPr/>
                    </p:nvPicPr>
                    <p:blipFill>
                      <a:blip r:embed="rId3"/>
                      <a:stretch>
                        <a:fillRect/>
                      </a:stretch>
                    </p:blipFill>
                    <p:spPr>
                      <a:xfrm>
                        <a:off x="3031408" y="1859220"/>
                        <a:ext cx="5918200" cy="2035175"/>
                      </a:xfrm>
                      <a:prstGeom prst="rect">
                        <a:avLst/>
                      </a:prstGeom>
                    </p:spPr>
                  </p:pic>
                </p:oleObj>
              </mc:Fallback>
            </mc:AlternateContent>
          </a:graphicData>
        </a:graphic>
      </p:graphicFrame>
      <p:cxnSp>
        <p:nvCxnSpPr>
          <p:cNvPr id="3" name="Straight Connector 2">
            <a:extLst>
              <a:ext uri="{FF2B5EF4-FFF2-40B4-BE49-F238E27FC236}">
                <a16:creationId xmlns:a16="http://schemas.microsoft.com/office/drawing/2014/main" id="{0A49D078-75D5-52BD-CAE5-1042ABDF8EC3}"/>
              </a:ext>
              <a:ext uri="{C183D7F6-B498-43B3-948B-1728B52AA6E4}">
                <adec:decorative xmlns:adec="http://schemas.microsoft.com/office/drawing/2017/decorative" val="1"/>
              </a:ext>
            </a:extLst>
          </p:cNvPr>
          <p:cNvCxnSpPr>
            <a:cxnSpLocks/>
          </p:cNvCxnSpPr>
          <p:nvPr/>
        </p:nvCxnSpPr>
        <p:spPr>
          <a:xfrm>
            <a:off x="0" y="735245"/>
            <a:ext cx="3847381"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D4037BE-6FAE-3871-A527-A4C1C2BE9650}"/>
              </a:ext>
              <a:ext uri="{C183D7F6-B498-43B3-948B-1728B52AA6E4}">
                <adec:decorative xmlns:adec="http://schemas.microsoft.com/office/drawing/2017/decorative" val="1"/>
              </a:ext>
            </a:extLst>
          </p:cNvPr>
          <p:cNvCxnSpPr>
            <a:cxnSpLocks/>
          </p:cNvCxnSpPr>
          <p:nvPr/>
        </p:nvCxnSpPr>
        <p:spPr>
          <a:xfrm>
            <a:off x="7961595" y="755811"/>
            <a:ext cx="423040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1039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D74DE-3715-B825-EA7A-C3833BC2656A}"/>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6C44AE4-55CE-2E55-4E23-43932F2F3F58}"/>
              </a:ext>
              <a:ext uri="{C183D7F6-B498-43B3-948B-1728B52AA6E4}">
                <adec:decorative xmlns:adec="http://schemas.microsoft.com/office/drawing/2017/decorative" val="1"/>
              </a:ext>
            </a:extLst>
          </p:cNvPr>
          <p:cNvCxnSpPr>
            <a:cxnSpLocks/>
          </p:cNvCxnSpPr>
          <p:nvPr/>
        </p:nvCxnSpPr>
        <p:spPr>
          <a:xfrm>
            <a:off x="8540151" y="522898"/>
            <a:ext cx="36518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A00F72A-796D-619B-39B1-EF8ED3C6545A}"/>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36. Testing and Validation</a:t>
            </a:r>
          </a:p>
        </p:txBody>
      </p:sp>
      <p:cxnSp>
        <p:nvCxnSpPr>
          <p:cNvPr id="14" name="Straight Connector 13">
            <a:extLst>
              <a:ext uri="{FF2B5EF4-FFF2-40B4-BE49-F238E27FC236}">
                <a16:creationId xmlns:a16="http://schemas.microsoft.com/office/drawing/2014/main" id="{61D491A2-2E67-6198-6E7C-2439911DB0C4}"/>
              </a:ext>
              <a:ext uri="{C183D7F6-B498-43B3-948B-1728B52AA6E4}">
                <adec:decorative xmlns:adec="http://schemas.microsoft.com/office/drawing/2017/decorative" val="1"/>
              </a:ext>
            </a:extLst>
          </p:cNvPr>
          <p:cNvCxnSpPr>
            <a:cxnSpLocks/>
          </p:cNvCxnSpPr>
          <p:nvPr/>
        </p:nvCxnSpPr>
        <p:spPr>
          <a:xfrm>
            <a:off x="0" y="522898"/>
            <a:ext cx="3666226"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247FCE0D-224E-A721-FFD8-0C6CD190FDA1}"/>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A4C44532-B213-8144-618F-A1F6D3E8E377}"/>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D45993A7-A57A-6408-404A-21ADB6A35EC5}"/>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1A496F9C-F42D-44EF-5C37-DF33E67D6109}"/>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DBF323A6-B8B2-E3B9-DE15-4FBECD76B6D6}"/>
              </a:ext>
            </a:extLst>
          </p:cNvPr>
          <p:cNvSpPr txBox="1"/>
          <p:nvPr/>
        </p:nvSpPr>
        <p:spPr>
          <a:xfrm>
            <a:off x="150243" y="910696"/>
            <a:ext cx="11667226" cy="5878532"/>
          </a:xfrm>
          <a:prstGeom prst="rect">
            <a:avLst/>
          </a:prstGeom>
          <a:noFill/>
        </p:spPr>
        <p:txBody>
          <a:bodyPr wrap="square">
            <a:spAutoFit/>
          </a:bodyPr>
          <a:lstStyle/>
          <a:p>
            <a:r>
              <a:rPr lang="en-US" sz="2000" dirty="0"/>
              <a:t>The Power BI dashboard was thoroughly tested to ensure accuracy, functionality, and reliability prior to delivery, confirming that all visuals, calculations, and interactions performed correctly across all datasets</a:t>
            </a:r>
          </a:p>
          <a:p>
            <a:endParaRPr lang="en-US" sz="2000" dirty="0"/>
          </a:p>
          <a:p>
            <a:r>
              <a:rPr lang="en-US" sz="2000" b="1" dirty="0"/>
              <a:t>Testing Highlights:</a:t>
            </a:r>
            <a:endParaRPr lang="en-US" sz="2000" dirty="0"/>
          </a:p>
          <a:p>
            <a:pPr marL="342900" indent="-342900">
              <a:buFont typeface="Arial" panose="020B0604020202020204" pitchFamily="34" charset="0"/>
              <a:buChar char="•"/>
            </a:pPr>
            <a:r>
              <a:rPr lang="en-US" sz="2000" dirty="0"/>
              <a:t>Validated data accuracy, KPI cards, model results, and user interactions.</a:t>
            </a:r>
          </a:p>
          <a:p>
            <a:pPr marL="342900" indent="-342900">
              <a:buFont typeface="Arial" panose="020B0604020202020204" pitchFamily="34" charset="0"/>
              <a:buChar char="•"/>
            </a:pPr>
            <a:r>
              <a:rPr lang="en-US" sz="2000" dirty="0"/>
              <a:t>Checked dashboard performance, export functions, and responsiveness.</a:t>
            </a:r>
          </a:p>
          <a:p>
            <a:pPr marL="342900" indent="-342900">
              <a:buFont typeface="Arial" panose="020B0604020202020204" pitchFamily="34" charset="0"/>
              <a:buChar char="•"/>
            </a:pPr>
            <a:r>
              <a:rPr lang="en-US" sz="2000" dirty="0"/>
              <a:t>Executed 8 test cases – all passed successfully.</a:t>
            </a:r>
          </a:p>
          <a:p>
            <a:pPr marL="342900" indent="-342900">
              <a:buFont typeface="Arial" panose="020B0604020202020204" pitchFamily="34" charset="0"/>
              <a:buChar char="•"/>
            </a:pPr>
            <a:r>
              <a:rPr lang="en-US" sz="2000" dirty="0"/>
              <a:t>Ensured final dashboard reliability and readiness for client use.</a:t>
            </a:r>
          </a:p>
          <a:p>
            <a:r>
              <a:rPr lang="en-US" sz="2000" b="1" dirty="0"/>
              <a:t>Testing Environment:</a:t>
            </a:r>
            <a:endParaRPr lang="en-US" sz="2000" dirty="0"/>
          </a:p>
          <a:p>
            <a:pPr marL="342900" indent="-342900">
              <a:buFont typeface="Arial" panose="020B0604020202020204" pitchFamily="34" charset="0"/>
              <a:buChar char="•"/>
            </a:pPr>
            <a:r>
              <a:rPr lang="en-US" sz="2000" dirty="0"/>
              <a:t>Platform: Power BI Desktop</a:t>
            </a:r>
          </a:p>
          <a:p>
            <a:pPr marL="342900" indent="-342900">
              <a:buFont typeface="Arial" panose="020B0604020202020204" pitchFamily="34" charset="0"/>
              <a:buChar char="•"/>
            </a:pPr>
            <a:r>
              <a:rPr lang="en-US" sz="2000" dirty="0"/>
              <a:t>Datasets: Forecast outputs (Predicted Visitors, Guest Nights, Domestic &amp; International Spend) and corresponding actuals for comparison</a:t>
            </a:r>
          </a:p>
          <a:p>
            <a:r>
              <a:rPr lang="en-US" sz="2000" b="1" dirty="0"/>
              <a:t>Visuals Tested:</a:t>
            </a:r>
            <a:endParaRPr lang="en-US" sz="2000" dirty="0"/>
          </a:p>
          <a:p>
            <a:pPr marL="342900" indent="-342900">
              <a:buFont typeface="Arial" panose="020B0604020202020204" pitchFamily="34" charset="0"/>
              <a:buChar char="•"/>
            </a:pPr>
            <a:r>
              <a:rPr lang="en-US" sz="2000" dirty="0"/>
              <a:t>Model Performance Chart</a:t>
            </a:r>
          </a:p>
          <a:p>
            <a:pPr marL="342900" indent="-342900">
              <a:buFont typeface="Arial" panose="020B0604020202020204" pitchFamily="34" charset="0"/>
              <a:buChar char="•"/>
            </a:pPr>
            <a:r>
              <a:rPr lang="en-US" sz="2000" dirty="0"/>
              <a:t>KPI Cards (Average Predicted Visitors)</a:t>
            </a:r>
          </a:p>
          <a:p>
            <a:pPr marL="342900" indent="-342900">
              <a:buFont typeface="Arial" panose="020B0604020202020204" pitchFamily="34" charset="0"/>
              <a:buChar char="•"/>
            </a:pPr>
            <a:r>
              <a:rPr lang="en-US" sz="2000" dirty="0"/>
              <a:t>Donut Chart (Domestic vs International Spend)</a:t>
            </a:r>
          </a:p>
          <a:p>
            <a:pPr marL="342900" indent="-342900">
              <a:buFont typeface="Arial" panose="020B0604020202020204" pitchFamily="34" charset="0"/>
              <a:buChar char="•"/>
            </a:pPr>
            <a:r>
              <a:rPr lang="en-US" sz="2000" dirty="0"/>
              <a:t>Clustered Column and Bar Charts</a:t>
            </a:r>
          </a:p>
          <a:p>
            <a:pPr marL="342900" indent="-342900">
              <a:buFont typeface="Arial" panose="020B0604020202020204" pitchFamily="34" charset="0"/>
              <a:buChar char="•"/>
            </a:pPr>
            <a:r>
              <a:rPr lang="en-US" sz="2000" dirty="0"/>
              <a:t>Line Graphs (Historical vs Predicted Data)</a:t>
            </a:r>
          </a:p>
          <a:p>
            <a:pPr>
              <a:buNone/>
            </a:pPr>
            <a:endParaRPr lang="en-US" sz="1600" dirty="0"/>
          </a:p>
        </p:txBody>
      </p:sp>
    </p:spTree>
    <p:extLst>
      <p:ext uri="{BB962C8B-B14F-4D97-AF65-F5344CB8AC3E}">
        <p14:creationId xmlns:p14="http://schemas.microsoft.com/office/powerpoint/2010/main" val="2393453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7D3C6-7C34-E63D-28A8-D8BB9E4A78FE}"/>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70239F2C-C5AB-8A49-E3A3-0E0ED140BB3D}"/>
              </a:ext>
              <a:ext uri="{C183D7F6-B498-43B3-948B-1728B52AA6E4}">
                <adec:decorative xmlns:adec="http://schemas.microsoft.com/office/drawing/2017/decorative" val="1"/>
              </a:ext>
            </a:extLst>
          </p:cNvPr>
          <p:cNvCxnSpPr>
            <a:cxnSpLocks/>
          </p:cNvCxnSpPr>
          <p:nvPr/>
        </p:nvCxnSpPr>
        <p:spPr>
          <a:xfrm>
            <a:off x="7332453" y="522898"/>
            <a:ext cx="4859547"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AFBD683-E15A-45D4-D441-4E11F780E9E7}"/>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37. Test Cases </a:t>
            </a:r>
          </a:p>
        </p:txBody>
      </p:sp>
      <p:cxnSp>
        <p:nvCxnSpPr>
          <p:cNvPr id="14" name="Straight Connector 13">
            <a:extLst>
              <a:ext uri="{FF2B5EF4-FFF2-40B4-BE49-F238E27FC236}">
                <a16:creationId xmlns:a16="http://schemas.microsoft.com/office/drawing/2014/main" id="{7FBE3F42-00EA-DA34-DF7B-6E637BE48046}"/>
              </a:ext>
              <a:ext uri="{C183D7F6-B498-43B3-948B-1728B52AA6E4}">
                <adec:decorative xmlns:adec="http://schemas.microsoft.com/office/drawing/2017/decorative" val="1"/>
              </a:ext>
            </a:extLst>
          </p:cNvPr>
          <p:cNvCxnSpPr>
            <a:cxnSpLocks/>
          </p:cNvCxnSpPr>
          <p:nvPr/>
        </p:nvCxnSpPr>
        <p:spPr>
          <a:xfrm>
            <a:off x="0" y="522898"/>
            <a:ext cx="483941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EDEC436A-91D2-BFA3-F7FC-61835507B130}"/>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4AC5D92C-80D4-B26D-7BBC-DCC149FFDAA6}"/>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48CD5BE4-5A1D-AF49-4190-08012FC2F5FB}"/>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4DD6D9E1-C7D0-396F-4F59-DA27A2E27651}"/>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369CE791-5E63-D8D6-0A45-FF943E2C7120}"/>
              </a:ext>
            </a:extLst>
          </p:cNvPr>
          <p:cNvSpPr txBox="1"/>
          <p:nvPr/>
        </p:nvSpPr>
        <p:spPr>
          <a:xfrm>
            <a:off x="262387" y="1375664"/>
            <a:ext cx="11667226" cy="3477875"/>
          </a:xfrm>
          <a:prstGeom prst="rect">
            <a:avLst/>
          </a:prstGeom>
          <a:noFill/>
        </p:spPr>
        <p:txBody>
          <a:bodyPr wrap="square">
            <a:spAutoFit/>
          </a:bodyPr>
          <a:lstStyle/>
          <a:p>
            <a:pPr>
              <a:buNone/>
            </a:pPr>
            <a:r>
              <a:rPr lang="en-US" sz="2000" b="1" dirty="0"/>
              <a:t>TC01</a:t>
            </a:r>
            <a:r>
              <a:rPr lang="en-US" sz="2000" dirty="0"/>
              <a:t> – Model Accuracy Performance: Match between dashboard and data source (Pass)</a:t>
            </a:r>
            <a:br>
              <a:rPr lang="en-US" sz="2000" dirty="0"/>
            </a:br>
            <a:r>
              <a:rPr lang="en-US" sz="2000" b="1" dirty="0"/>
              <a:t>TC02</a:t>
            </a:r>
            <a:r>
              <a:rPr lang="en-US" sz="2000" dirty="0"/>
              <a:t> – KPI Card Calculation: Predicted visitors averaged correctly (Pass)</a:t>
            </a:r>
            <a:br>
              <a:rPr lang="en-US" sz="2000" dirty="0"/>
            </a:br>
            <a:r>
              <a:rPr lang="en-US" sz="2000" b="1" dirty="0"/>
              <a:t>TC03 </a:t>
            </a:r>
            <a:r>
              <a:rPr lang="en-US" sz="2000" dirty="0"/>
              <a:t>– Donut Chart: Domestic vs. International Spend consistency (Pass)</a:t>
            </a:r>
            <a:br>
              <a:rPr lang="en-US" sz="2000" dirty="0"/>
            </a:br>
            <a:r>
              <a:rPr lang="en-US" sz="2000" b="1" dirty="0"/>
              <a:t>TC04</a:t>
            </a:r>
            <a:r>
              <a:rPr lang="en-US" sz="2000" dirty="0"/>
              <a:t> – Average Guest Night Graph: Average matches calculated value (Pass)</a:t>
            </a:r>
            <a:br>
              <a:rPr lang="en-US" sz="2000" dirty="0"/>
            </a:br>
            <a:r>
              <a:rPr lang="en-US" sz="2000" b="1" dirty="0"/>
              <a:t>TC05 </a:t>
            </a:r>
            <a:r>
              <a:rPr lang="en-US" sz="2000" dirty="0"/>
              <a:t>– Overlap/Gaps in Visitor Data: No overlap (Pass)</a:t>
            </a:r>
            <a:br>
              <a:rPr lang="en-US" sz="2000" dirty="0"/>
            </a:br>
            <a:r>
              <a:rPr lang="en-US" sz="2000" b="1" dirty="0"/>
              <a:t>TC06</a:t>
            </a:r>
            <a:r>
              <a:rPr lang="en-US" sz="2000" dirty="0"/>
              <a:t> – Future Predictions: Only future months displayed (Pass)</a:t>
            </a:r>
            <a:br>
              <a:rPr lang="en-US" sz="2000" dirty="0"/>
            </a:br>
            <a:r>
              <a:rPr lang="en-US" sz="2000" b="1" dirty="0"/>
              <a:t>TC07 </a:t>
            </a:r>
            <a:r>
              <a:rPr lang="en-US" sz="2000" dirty="0"/>
              <a:t>– Unit Consistency: K for visitors, M for guest nights (Pass)</a:t>
            </a:r>
            <a:br>
              <a:rPr lang="en-US" sz="2000" dirty="0"/>
            </a:br>
            <a:r>
              <a:rPr lang="en-US" sz="2000" b="1" dirty="0"/>
              <a:t>TC08</a:t>
            </a:r>
            <a:r>
              <a:rPr lang="en-US" sz="2000" dirty="0"/>
              <a:t> – Month Sequence: Correct chronological order (Pass)</a:t>
            </a:r>
            <a:br>
              <a:rPr lang="en-US" sz="2000" dirty="0"/>
            </a:br>
            <a:r>
              <a:rPr lang="en-US" sz="2000" b="1" dirty="0"/>
              <a:t>TC09 </a:t>
            </a:r>
            <a:r>
              <a:rPr lang="en-US" sz="2000" dirty="0"/>
              <a:t>– Cross Highlight </a:t>
            </a:r>
            <a:r>
              <a:rPr lang="en-US" sz="2000" dirty="0" err="1"/>
              <a:t>Behaviour</a:t>
            </a:r>
            <a:r>
              <a:rPr lang="en-US" sz="2000" dirty="0"/>
              <a:t>: Interactive dimming works (Pass)</a:t>
            </a:r>
          </a:p>
          <a:p>
            <a:pPr>
              <a:buNone/>
            </a:pPr>
            <a:endParaRPr lang="en-US" sz="2000" dirty="0"/>
          </a:p>
          <a:p>
            <a:pPr>
              <a:buNone/>
            </a:pPr>
            <a:endParaRPr lang="en-US" sz="2000" dirty="0"/>
          </a:p>
        </p:txBody>
      </p:sp>
    </p:spTree>
    <p:extLst>
      <p:ext uri="{BB962C8B-B14F-4D97-AF65-F5344CB8AC3E}">
        <p14:creationId xmlns:p14="http://schemas.microsoft.com/office/powerpoint/2010/main" val="42113675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93256-01DB-6A66-E678-D5878BFBF11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AE21CED-268A-F0B8-220E-0E7A6EC2A976}"/>
              </a:ext>
              <a:ext uri="{C183D7F6-B498-43B3-948B-1728B52AA6E4}">
                <adec:decorative xmlns:adec="http://schemas.microsoft.com/office/drawing/2017/decorative" val="1"/>
              </a:ext>
            </a:extLst>
          </p:cNvPr>
          <p:cNvCxnSpPr>
            <a:cxnSpLocks/>
          </p:cNvCxnSpPr>
          <p:nvPr/>
        </p:nvCxnSpPr>
        <p:spPr>
          <a:xfrm>
            <a:off x="7944928" y="522898"/>
            <a:ext cx="424707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66A1FF0-CE2F-407F-020F-E7597095B29B}"/>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38. Testing Evidence </a:t>
            </a:r>
          </a:p>
        </p:txBody>
      </p:sp>
      <p:cxnSp>
        <p:nvCxnSpPr>
          <p:cNvPr id="14" name="Straight Connector 13">
            <a:extLst>
              <a:ext uri="{FF2B5EF4-FFF2-40B4-BE49-F238E27FC236}">
                <a16:creationId xmlns:a16="http://schemas.microsoft.com/office/drawing/2014/main" id="{F1747B15-35E4-60BC-84AD-61BF293DB65C}"/>
              </a:ext>
              <a:ext uri="{C183D7F6-B498-43B3-948B-1728B52AA6E4}">
                <adec:decorative xmlns:adec="http://schemas.microsoft.com/office/drawing/2017/decorative" val="1"/>
              </a:ext>
            </a:extLst>
          </p:cNvPr>
          <p:cNvCxnSpPr>
            <a:cxnSpLocks/>
          </p:cNvCxnSpPr>
          <p:nvPr/>
        </p:nvCxnSpPr>
        <p:spPr>
          <a:xfrm>
            <a:off x="0" y="522898"/>
            <a:ext cx="417518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25DB33C5-F004-0E0C-BA10-8BE92D8FE05B}"/>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33CB1A8D-825B-81C1-7A3C-3191B9DF711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75D04F4A-98B6-2475-F593-8B10A943B568}"/>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0584DDFD-3EBF-AE92-A8A2-687509A9D811}"/>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2" name="Content Placeholder 5">
            <a:extLst>
              <a:ext uri="{FF2B5EF4-FFF2-40B4-BE49-F238E27FC236}">
                <a16:creationId xmlns:a16="http://schemas.microsoft.com/office/drawing/2014/main" id="{54A5A82F-0C0E-C656-0504-68931BD49EAC}"/>
              </a:ext>
            </a:extLst>
          </p:cNvPr>
          <p:cNvPicPr>
            <a:picLocks noChangeAspect="1"/>
          </p:cNvPicPr>
          <p:nvPr/>
        </p:nvPicPr>
        <p:blipFill>
          <a:blip r:embed="rId3"/>
          <a:stretch>
            <a:fillRect/>
          </a:stretch>
        </p:blipFill>
        <p:spPr>
          <a:xfrm>
            <a:off x="327804" y="1179248"/>
            <a:ext cx="5050153" cy="5155854"/>
          </a:xfrm>
          <a:prstGeom prst="rect">
            <a:avLst/>
          </a:prstGeom>
        </p:spPr>
      </p:pic>
      <p:pic>
        <p:nvPicPr>
          <p:cNvPr id="3" name="Picture 2">
            <a:extLst>
              <a:ext uri="{FF2B5EF4-FFF2-40B4-BE49-F238E27FC236}">
                <a16:creationId xmlns:a16="http://schemas.microsoft.com/office/drawing/2014/main" id="{025A2323-3008-8DB9-9B63-3BAD0261BAE1}"/>
              </a:ext>
            </a:extLst>
          </p:cNvPr>
          <p:cNvPicPr>
            <a:picLocks noChangeAspect="1"/>
          </p:cNvPicPr>
          <p:nvPr/>
        </p:nvPicPr>
        <p:blipFill>
          <a:blip r:embed="rId4"/>
          <a:stretch>
            <a:fillRect/>
          </a:stretch>
        </p:blipFill>
        <p:spPr>
          <a:xfrm>
            <a:off x="6297282" y="826379"/>
            <a:ext cx="4612729" cy="5685188"/>
          </a:xfrm>
          <a:prstGeom prst="rect">
            <a:avLst/>
          </a:prstGeom>
        </p:spPr>
      </p:pic>
    </p:spTree>
    <p:extLst>
      <p:ext uri="{BB962C8B-B14F-4D97-AF65-F5344CB8AC3E}">
        <p14:creationId xmlns:p14="http://schemas.microsoft.com/office/powerpoint/2010/main" val="42175836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6E48F-E7B6-1397-9A74-3B7BA3198978}"/>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2F4A5AD-62BA-0677-45CB-C4334B5BD8C3}"/>
              </a:ext>
              <a:ext uri="{C183D7F6-B498-43B3-948B-1728B52AA6E4}">
                <adec:decorative xmlns:adec="http://schemas.microsoft.com/office/drawing/2017/decorative" val="1"/>
              </a:ext>
            </a:extLst>
          </p:cNvPr>
          <p:cNvCxnSpPr>
            <a:cxnSpLocks/>
          </p:cNvCxnSpPr>
          <p:nvPr/>
        </p:nvCxnSpPr>
        <p:spPr>
          <a:xfrm>
            <a:off x="8600536" y="522898"/>
            <a:ext cx="359146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AC26573-3542-C16D-369E-8BAE35D712AC}"/>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39. Testing Evidence (Cont’d) </a:t>
            </a:r>
          </a:p>
        </p:txBody>
      </p:sp>
      <p:cxnSp>
        <p:nvCxnSpPr>
          <p:cNvPr id="14" name="Straight Connector 13">
            <a:extLst>
              <a:ext uri="{FF2B5EF4-FFF2-40B4-BE49-F238E27FC236}">
                <a16:creationId xmlns:a16="http://schemas.microsoft.com/office/drawing/2014/main" id="{9E30BAE3-4DAC-661D-5FCF-F9A495B3DBB5}"/>
              </a:ext>
              <a:ext uri="{C183D7F6-B498-43B3-948B-1728B52AA6E4}">
                <adec:decorative xmlns:adec="http://schemas.microsoft.com/office/drawing/2017/decorative" val="1"/>
              </a:ext>
            </a:extLst>
          </p:cNvPr>
          <p:cNvCxnSpPr>
            <a:cxnSpLocks/>
          </p:cNvCxnSpPr>
          <p:nvPr/>
        </p:nvCxnSpPr>
        <p:spPr>
          <a:xfrm>
            <a:off x="0" y="522898"/>
            <a:ext cx="353683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9BD37EBE-9AE9-CB91-E9BD-1365E521B18D}"/>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C9598CC1-0737-835C-FBBA-4BFDCE212EE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10816485-6349-5FCF-B933-B47FA3F77999}"/>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FB3FEC39-8680-4268-89D6-37287D364662}"/>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5" name="Content Placeholder 4">
            <a:extLst>
              <a:ext uri="{FF2B5EF4-FFF2-40B4-BE49-F238E27FC236}">
                <a16:creationId xmlns:a16="http://schemas.microsoft.com/office/drawing/2014/main" id="{ACF0A27C-409E-B5F9-1189-9A9445B3F59D}"/>
              </a:ext>
            </a:extLst>
          </p:cNvPr>
          <p:cNvPicPr>
            <a:picLocks noChangeAspect="1"/>
          </p:cNvPicPr>
          <p:nvPr/>
        </p:nvPicPr>
        <p:blipFill>
          <a:blip r:embed="rId3"/>
          <a:stretch>
            <a:fillRect/>
          </a:stretch>
        </p:blipFill>
        <p:spPr>
          <a:xfrm>
            <a:off x="672397" y="763826"/>
            <a:ext cx="4742010" cy="5330348"/>
          </a:xfrm>
          <a:prstGeom prst="rect">
            <a:avLst/>
          </a:prstGeom>
        </p:spPr>
      </p:pic>
      <p:pic>
        <p:nvPicPr>
          <p:cNvPr id="6" name="Picture 5">
            <a:extLst>
              <a:ext uri="{FF2B5EF4-FFF2-40B4-BE49-F238E27FC236}">
                <a16:creationId xmlns:a16="http://schemas.microsoft.com/office/drawing/2014/main" id="{D8A99674-A461-399D-7957-1D5E9AB203A7}"/>
              </a:ext>
            </a:extLst>
          </p:cNvPr>
          <p:cNvPicPr>
            <a:picLocks noChangeAspect="1"/>
          </p:cNvPicPr>
          <p:nvPr/>
        </p:nvPicPr>
        <p:blipFill>
          <a:blip r:embed="rId4"/>
          <a:stretch>
            <a:fillRect/>
          </a:stretch>
        </p:blipFill>
        <p:spPr>
          <a:xfrm>
            <a:off x="5828263" y="763826"/>
            <a:ext cx="5124409" cy="5099973"/>
          </a:xfrm>
          <a:prstGeom prst="rect">
            <a:avLst/>
          </a:prstGeom>
        </p:spPr>
      </p:pic>
    </p:spTree>
    <p:extLst>
      <p:ext uri="{BB962C8B-B14F-4D97-AF65-F5344CB8AC3E}">
        <p14:creationId xmlns:p14="http://schemas.microsoft.com/office/powerpoint/2010/main" val="33010546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3A487-A1A6-9BF6-5644-CBD1FE4D25A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E266540-D2BC-8992-18FE-E8621B45F6D5}"/>
              </a:ext>
              <a:ext uri="{C183D7F6-B498-43B3-948B-1728B52AA6E4}">
                <adec:decorative xmlns:adec="http://schemas.microsoft.com/office/drawing/2017/decorative" val="1"/>
              </a:ext>
            </a:extLst>
          </p:cNvPr>
          <p:cNvCxnSpPr>
            <a:cxnSpLocks/>
          </p:cNvCxnSpPr>
          <p:nvPr/>
        </p:nvCxnSpPr>
        <p:spPr>
          <a:xfrm>
            <a:off x="8134709" y="439947"/>
            <a:ext cx="4057291"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5FF5BA3-61E9-FB18-3FC9-89F716E8D081}"/>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40. Testing Conclusion </a:t>
            </a:r>
          </a:p>
        </p:txBody>
      </p:sp>
      <p:cxnSp>
        <p:nvCxnSpPr>
          <p:cNvPr id="14" name="Straight Connector 13">
            <a:extLst>
              <a:ext uri="{FF2B5EF4-FFF2-40B4-BE49-F238E27FC236}">
                <a16:creationId xmlns:a16="http://schemas.microsoft.com/office/drawing/2014/main" id="{F0BA03F0-7D98-43F7-324D-95D8ADF4EF8F}"/>
              </a:ext>
              <a:ext uri="{C183D7F6-B498-43B3-948B-1728B52AA6E4}">
                <adec:decorative xmlns:adec="http://schemas.microsoft.com/office/drawing/2017/decorative" val="1"/>
              </a:ext>
            </a:extLst>
          </p:cNvPr>
          <p:cNvCxnSpPr>
            <a:cxnSpLocks/>
          </p:cNvCxnSpPr>
          <p:nvPr/>
        </p:nvCxnSpPr>
        <p:spPr>
          <a:xfrm>
            <a:off x="0" y="522898"/>
            <a:ext cx="421831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9C123CCA-6D3D-2BA7-BA94-A4CBB4AB4D91}"/>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7A9B54C9-13B3-AE88-7218-D2DDC7DC89C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4E8A8D42-70FB-CA8B-561E-72A849D9E7F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E07BADA8-8ED1-2162-7DD1-D4D7CFF5A1B0}"/>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0954FE5B-2557-F864-7B7F-C2434CBDA909}"/>
              </a:ext>
            </a:extLst>
          </p:cNvPr>
          <p:cNvSpPr txBox="1"/>
          <p:nvPr/>
        </p:nvSpPr>
        <p:spPr>
          <a:xfrm>
            <a:off x="262387" y="1375664"/>
            <a:ext cx="11667226" cy="1938992"/>
          </a:xfrm>
          <a:prstGeom prst="rect">
            <a:avLst/>
          </a:prstGeom>
          <a:noFill/>
        </p:spPr>
        <p:txBody>
          <a:bodyPr wrap="square">
            <a:spAutoFit/>
          </a:bodyPr>
          <a:lstStyle/>
          <a:p>
            <a:pPr marL="342900" indent="-342900">
              <a:buFont typeface="Arial" panose="020B0604020202020204" pitchFamily="34" charset="0"/>
              <a:buChar char="•"/>
            </a:pPr>
            <a:r>
              <a:rPr lang="en-US" sz="2000" dirty="0"/>
              <a:t>All test cases passed successfully.</a:t>
            </a:r>
          </a:p>
          <a:p>
            <a:pPr marL="342900" indent="-342900">
              <a:buFont typeface="Arial" panose="020B0604020202020204" pitchFamily="34" charset="0"/>
              <a:buChar char="•"/>
            </a:pPr>
            <a:r>
              <a:rPr lang="en-US" sz="2000" dirty="0"/>
              <a:t>The dashboard is accurate, reliable, and user-friendly.</a:t>
            </a:r>
          </a:p>
          <a:p>
            <a:pPr marL="342900" indent="-342900">
              <a:buFont typeface="Arial" panose="020B0604020202020204" pitchFamily="34" charset="0"/>
              <a:buChar char="•"/>
            </a:pPr>
            <a:r>
              <a:rPr lang="en-US" sz="2000" dirty="0"/>
              <a:t>Results confirm correctness of data, visuals, KPI logic, and interactivity.</a:t>
            </a:r>
            <a:br>
              <a:rPr lang="en-US" sz="2000" dirty="0"/>
            </a:br>
            <a:br>
              <a:rPr lang="en-US" sz="2000" dirty="0"/>
            </a:br>
            <a:endParaRPr lang="en-IN" sz="2000" dirty="0"/>
          </a:p>
          <a:p>
            <a:pPr>
              <a:buNone/>
            </a:pPr>
            <a:endParaRPr lang="en-US" sz="2000" b="1" dirty="0"/>
          </a:p>
        </p:txBody>
      </p:sp>
    </p:spTree>
    <p:extLst>
      <p:ext uri="{BB962C8B-B14F-4D97-AF65-F5344CB8AC3E}">
        <p14:creationId xmlns:p14="http://schemas.microsoft.com/office/powerpoint/2010/main" val="29799570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D178A-26EA-1B2F-8AF3-881D08772C9D}"/>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ACFCC5D-A072-0D27-AF55-D37B0BBD6CD6}"/>
              </a:ext>
              <a:ext uri="{C183D7F6-B498-43B3-948B-1728B52AA6E4}">
                <adec:decorative xmlns:adec="http://schemas.microsoft.com/office/drawing/2017/decorative" val="1"/>
              </a:ext>
            </a:extLst>
          </p:cNvPr>
          <p:cNvCxnSpPr>
            <a:cxnSpLocks/>
          </p:cNvCxnSpPr>
          <p:nvPr/>
        </p:nvCxnSpPr>
        <p:spPr>
          <a:xfrm>
            <a:off x="7944928" y="439947"/>
            <a:ext cx="4247072"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E889E47F-4464-EC2D-EB69-902E91B99017}"/>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41. Key Milestones </a:t>
            </a:r>
          </a:p>
        </p:txBody>
      </p:sp>
      <p:cxnSp>
        <p:nvCxnSpPr>
          <p:cNvPr id="14" name="Straight Connector 13">
            <a:extLst>
              <a:ext uri="{FF2B5EF4-FFF2-40B4-BE49-F238E27FC236}">
                <a16:creationId xmlns:a16="http://schemas.microsoft.com/office/drawing/2014/main" id="{8040B64A-B386-DB79-3E17-A1396399F75E}"/>
              </a:ext>
              <a:ext uri="{C183D7F6-B498-43B3-948B-1728B52AA6E4}">
                <adec:decorative xmlns:adec="http://schemas.microsoft.com/office/drawing/2017/decorative" val="1"/>
              </a:ext>
            </a:extLst>
          </p:cNvPr>
          <p:cNvCxnSpPr>
            <a:cxnSpLocks/>
          </p:cNvCxnSpPr>
          <p:nvPr/>
        </p:nvCxnSpPr>
        <p:spPr>
          <a:xfrm>
            <a:off x="0" y="522898"/>
            <a:ext cx="4382219"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6FD45D57-89AE-8555-53E9-566A5A2C17AE}"/>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A97C8B4C-DFD6-BCA1-A621-7A9034E49EF3}"/>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041B93EC-5ECC-BD68-916A-639FF3BDAEE2}"/>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B54E3D02-15BD-8C7E-3962-8E2C2C56A26F}"/>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TextBox 6">
            <a:extLst>
              <a:ext uri="{FF2B5EF4-FFF2-40B4-BE49-F238E27FC236}">
                <a16:creationId xmlns:a16="http://schemas.microsoft.com/office/drawing/2014/main" id="{2E0589B1-4860-8B23-621B-D0C8141675E5}"/>
              </a:ext>
            </a:extLst>
          </p:cNvPr>
          <p:cNvSpPr txBox="1"/>
          <p:nvPr/>
        </p:nvSpPr>
        <p:spPr>
          <a:xfrm>
            <a:off x="262387" y="1419655"/>
            <a:ext cx="11667226" cy="4093428"/>
          </a:xfrm>
          <a:prstGeom prst="rect">
            <a:avLst/>
          </a:prstGeom>
          <a:noFill/>
        </p:spPr>
        <p:txBody>
          <a:bodyPr wrap="square">
            <a:spAutoFit/>
          </a:bodyPr>
          <a:lstStyle/>
          <a:p>
            <a:r>
              <a:rPr lang="en-US" sz="2000" b="1" dirty="0"/>
              <a:t>Week 2: </a:t>
            </a:r>
            <a:r>
              <a:rPr lang="en-US" sz="2000" dirty="0"/>
              <a:t>Project Bid submitted and Client Assigned </a:t>
            </a:r>
          </a:p>
          <a:p>
            <a:r>
              <a:rPr lang="en-US" sz="2000" b="1" dirty="0"/>
              <a:t>Weeks 3 </a:t>
            </a:r>
            <a:r>
              <a:rPr lang="en-US" sz="2000" dirty="0"/>
              <a:t>: Client (Dr Trang Do) outlined deliverables and the project objective. </a:t>
            </a:r>
          </a:p>
          <a:p>
            <a:r>
              <a:rPr lang="en-US" sz="2000" b="1" dirty="0"/>
              <a:t>Weeks 5 – 6: </a:t>
            </a:r>
            <a:r>
              <a:rPr lang="en-US" sz="2000" dirty="0"/>
              <a:t>Initial forecasting models (ARIMA, SARIMAX, VAR, Random Forest) research. Project Proposal submitted. Data collection, cleaning and data validation for MBIE datasets started. </a:t>
            </a:r>
          </a:p>
          <a:p>
            <a:r>
              <a:rPr lang="en-US" sz="2000" b="1" dirty="0"/>
              <a:t>Weeks 7 – 10: </a:t>
            </a:r>
            <a:r>
              <a:rPr lang="en-US" sz="2000" dirty="0"/>
              <a:t>Model refinement and dashboard design. Initial forecasting models (ARIMA, SARIMAX, VAR, Random Forest) development started.</a:t>
            </a:r>
            <a:br>
              <a:rPr lang="en-US" sz="2000" dirty="0"/>
            </a:br>
            <a:r>
              <a:rPr lang="en-US" sz="2000" b="1" dirty="0"/>
              <a:t>Weeks 11 – 13: </a:t>
            </a:r>
            <a:r>
              <a:rPr lang="en-US" sz="2000" dirty="0"/>
              <a:t>Final model tuning and testing. Forecast accuracy validated using RMSE, MAE, and MAPE. Power BI dashboards refined with additional insights and improved user interface. </a:t>
            </a:r>
            <a:r>
              <a:rPr lang="en-US" sz="2000" b="1" dirty="0"/>
              <a:t>Week 12 – </a:t>
            </a:r>
            <a:r>
              <a:rPr lang="en-US" sz="2000" dirty="0"/>
              <a:t>Mid-Client Review: Progress presented to our advisor, received feedback on model performance and visual presentation. </a:t>
            </a:r>
            <a:r>
              <a:rPr lang="en-US" sz="2000" b="1" dirty="0"/>
              <a:t>Week 13 </a:t>
            </a:r>
            <a:r>
              <a:rPr lang="en-US" sz="2000" dirty="0"/>
              <a:t>– Self-Management Review: Reflection on teamwork, communication, and sprint efficiency submitted.</a:t>
            </a:r>
          </a:p>
          <a:p>
            <a:r>
              <a:rPr lang="en-US" sz="2000" b="1" dirty="0"/>
              <a:t>Week 15 </a:t>
            </a:r>
            <a:r>
              <a:rPr lang="en-US" sz="2000" dirty="0"/>
              <a:t>– Academic and Client Handover and Conducted final review with Dr Trang Do.</a:t>
            </a:r>
          </a:p>
          <a:p>
            <a:r>
              <a:rPr lang="en-US" sz="2000" b="1" dirty="0"/>
              <a:t>Week 16 </a:t>
            </a:r>
            <a:r>
              <a:rPr lang="en-US" sz="2000" dirty="0"/>
              <a:t>–Panel Presentation</a:t>
            </a:r>
          </a:p>
        </p:txBody>
      </p:sp>
    </p:spTree>
    <p:extLst>
      <p:ext uri="{BB962C8B-B14F-4D97-AF65-F5344CB8AC3E}">
        <p14:creationId xmlns:p14="http://schemas.microsoft.com/office/powerpoint/2010/main" val="2562441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1C63A-B4A0-534C-C3EC-97F514DF770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8445A9B-4F9A-EFA1-E687-6E71494779ED}"/>
              </a:ext>
              <a:ext uri="{C183D7F6-B498-43B3-948B-1728B52AA6E4}">
                <adec:decorative xmlns:adec="http://schemas.microsoft.com/office/drawing/2017/decorative" val="1"/>
              </a:ext>
            </a:extLst>
          </p:cNvPr>
          <p:cNvCxnSpPr>
            <a:cxnSpLocks/>
          </p:cNvCxnSpPr>
          <p:nvPr/>
        </p:nvCxnSpPr>
        <p:spPr>
          <a:xfrm>
            <a:off x="10670875" y="439947"/>
            <a:ext cx="15211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E789973-914E-9017-67ED-B7CCF337BFB0}"/>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42. Changes in Methodology, Deliverables, or Dates </a:t>
            </a:r>
          </a:p>
        </p:txBody>
      </p:sp>
      <p:cxnSp>
        <p:nvCxnSpPr>
          <p:cNvPr id="14" name="Straight Connector 13">
            <a:extLst>
              <a:ext uri="{FF2B5EF4-FFF2-40B4-BE49-F238E27FC236}">
                <a16:creationId xmlns:a16="http://schemas.microsoft.com/office/drawing/2014/main" id="{35CD5A0C-5B3D-4D57-8091-EE8B18EBB8CC}"/>
              </a:ext>
              <a:ext uri="{C183D7F6-B498-43B3-948B-1728B52AA6E4}">
                <adec:decorative xmlns:adec="http://schemas.microsoft.com/office/drawing/2017/decorative" val="1"/>
              </a:ext>
            </a:extLst>
          </p:cNvPr>
          <p:cNvCxnSpPr>
            <a:cxnSpLocks/>
          </p:cNvCxnSpPr>
          <p:nvPr/>
        </p:nvCxnSpPr>
        <p:spPr>
          <a:xfrm>
            <a:off x="0" y="522898"/>
            <a:ext cx="1656272"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966B1ABD-D366-B68A-6D89-37C99F541EE7}"/>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62B98213-6B5C-BA21-65C6-451956623C5E}"/>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FB1D8E31-0181-ABCD-BEEA-A86A4F1E9FF8}"/>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2364C195-E72B-7EDA-A29C-A176C13F6885}"/>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TextBox 5">
            <a:extLst>
              <a:ext uri="{FF2B5EF4-FFF2-40B4-BE49-F238E27FC236}">
                <a16:creationId xmlns:a16="http://schemas.microsoft.com/office/drawing/2014/main" id="{A0900AAB-8C1B-E514-B5B2-B9A090D64351}"/>
              </a:ext>
            </a:extLst>
          </p:cNvPr>
          <p:cNvSpPr txBox="1"/>
          <p:nvPr/>
        </p:nvSpPr>
        <p:spPr>
          <a:xfrm>
            <a:off x="491706" y="1443839"/>
            <a:ext cx="11404120" cy="3170099"/>
          </a:xfrm>
          <a:prstGeom prst="rect">
            <a:avLst/>
          </a:prstGeom>
          <a:noFill/>
        </p:spPr>
        <p:txBody>
          <a:bodyPr wrap="square">
            <a:spAutoFit/>
          </a:bodyPr>
          <a:lstStyle/>
          <a:p>
            <a:pPr>
              <a:buNone/>
            </a:pPr>
            <a:r>
              <a:rPr lang="en-US" sz="2000" dirty="0"/>
              <a:t>There were no major changes in the project methodology, the team continued following the Agile approach throughout the development process.</a:t>
            </a:r>
          </a:p>
          <a:p>
            <a:pPr>
              <a:buNone/>
            </a:pPr>
            <a:endParaRPr lang="en-US" sz="2000" dirty="0"/>
          </a:p>
          <a:p>
            <a:pPr>
              <a:buNone/>
            </a:pPr>
            <a:r>
              <a:rPr lang="en-US" sz="2000" dirty="0"/>
              <a:t>The only notable change was related to an academic deliverable,  the Mid-Client Presentation.</a:t>
            </a:r>
            <a:br>
              <a:rPr lang="en-US" sz="2000" dirty="0"/>
            </a:br>
            <a:r>
              <a:rPr lang="en-US" sz="2000" dirty="0"/>
              <a:t>Originally scheduled for Week 10, it was delayed to Week 12 because we did not receive a client response to confirm the meeting time. Instead, the presentation was delivered to our advisor, who provided detailed feedback on the project’s progress and documentation.</a:t>
            </a:r>
          </a:p>
          <a:p>
            <a:pPr>
              <a:buNone/>
            </a:pPr>
            <a:endParaRPr lang="en-US" sz="2000" dirty="0"/>
          </a:p>
          <a:p>
            <a:pPr>
              <a:buNone/>
            </a:pPr>
            <a:r>
              <a:rPr lang="en-US" sz="2000" dirty="0"/>
              <a:t>All updates and changes were recorded in our weekly reports and discussed during advisor meetings to maintain transparency and alignment with project expectations.</a:t>
            </a:r>
          </a:p>
        </p:txBody>
      </p:sp>
    </p:spTree>
    <p:extLst>
      <p:ext uri="{BB962C8B-B14F-4D97-AF65-F5344CB8AC3E}">
        <p14:creationId xmlns:p14="http://schemas.microsoft.com/office/powerpoint/2010/main" val="10445573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27E5B-6884-D193-FC71-464B36CC4BF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55A18EF-B110-B5A5-59D7-A07F67EA5E23}"/>
              </a:ext>
              <a:ext uri="{C183D7F6-B498-43B3-948B-1728B52AA6E4}">
                <adec:decorative xmlns:adec="http://schemas.microsoft.com/office/drawing/2017/decorative" val="1"/>
              </a:ext>
            </a:extLst>
          </p:cNvPr>
          <p:cNvCxnSpPr>
            <a:cxnSpLocks/>
          </p:cNvCxnSpPr>
          <p:nvPr/>
        </p:nvCxnSpPr>
        <p:spPr>
          <a:xfrm>
            <a:off x="6987396" y="522898"/>
            <a:ext cx="520460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9A6476E-31FE-AB1F-C78A-71FF31E9F443}"/>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 43. Trello</a:t>
            </a:r>
          </a:p>
        </p:txBody>
      </p:sp>
      <p:cxnSp>
        <p:nvCxnSpPr>
          <p:cNvPr id="14" name="Straight Connector 13">
            <a:extLst>
              <a:ext uri="{FF2B5EF4-FFF2-40B4-BE49-F238E27FC236}">
                <a16:creationId xmlns:a16="http://schemas.microsoft.com/office/drawing/2014/main" id="{7277A026-A4CC-C867-434B-D33477F45FE3}"/>
              </a:ext>
              <a:ext uri="{C183D7F6-B498-43B3-948B-1728B52AA6E4}">
                <adec:decorative xmlns:adec="http://schemas.microsoft.com/office/drawing/2017/decorative" val="1"/>
              </a:ext>
            </a:extLst>
          </p:cNvPr>
          <p:cNvCxnSpPr>
            <a:cxnSpLocks/>
          </p:cNvCxnSpPr>
          <p:nvPr/>
        </p:nvCxnSpPr>
        <p:spPr>
          <a:xfrm>
            <a:off x="0" y="522898"/>
            <a:ext cx="537425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087A4F7B-915E-1F1D-869A-ABB90808F4E8}"/>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52C65CCD-D5CB-222C-9D9E-43737CB54333}"/>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22CD8B27-815F-5457-6903-9398DBC84C9B}"/>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6B403383-3137-1C80-6C1B-6CC4154202E4}"/>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3" name="Picture 2">
            <a:extLst>
              <a:ext uri="{FF2B5EF4-FFF2-40B4-BE49-F238E27FC236}">
                <a16:creationId xmlns:a16="http://schemas.microsoft.com/office/drawing/2014/main" id="{A9A8DDB9-50C0-5D6B-BA32-F2076A51A7B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1321" y="1905618"/>
            <a:ext cx="5895555" cy="3408153"/>
          </a:xfrm>
          <a:prstGeom prst="rect">
            <a:avLst/>
          </a:prstGeom>
        </p:spPr>
      </p:pic>
      <p:pic>
        <p:nvPicPr>
          <p:cNvPr id="7" name="Picture 6">
            <a:extLst>
              <a:ext uri="{FF2B5EF4-FFF2-40B4-BE49-F238E27FC236}">
                <a16:creationId xmlns:a16="http://schemas.microsoft.com/office/drawing/2014/main" id="{CC872CE1-8A3D-EB21-8321-A4D32E81CE1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17581" y="1905618"/>
            <a:ext cx="5560218" cy="3408152"/>
          </a:xfrm>
          <a:prstGeom prst="rect">
            <a:avLst/>
          </a:prstGeom>
        </p:spPr>
      </p:pic>
    </p:spTree>
    <p:extLst>
      <p:ext uri="{BB962C8B-B14F-4D97-AF65-F5344CB8AC3E}">
        <p14:creationId xmlns:p14="http://schemas.microsoft.com/office/powerpoint/2010/main" val="2119267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13BBC-75B0-9F1F-CAA6-6F7964CB757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FE71D48-B509-5048-74E9-6A774330D99A}"/>
              </a:ext>
              <a:ext uri="{C183D7F6-B498-43B3-948B-1728B52AA6E4}">
                <adec:decorative xmlns:adec="http://schemas.microsoft.com/office/drawing/2017/decorative" val="1"/>
              </a:ext>
            </a:extLst>
          </p:cNvPr>
          <p:cNvCxnSpPr>
            <a:cxnSpLocks/>
          </p:cNvCxnSpPr>
          <p:nvPr/>
        </p:nvCxnSpPr>
        <p:spPr>
          <a:xfrm>
            <a:off x="8695426" y="514271"/>
            <a:ext cx="349657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E9EDF5C-06CE-C70B-3993-8B2E9C2A7688}"/>
              </a:ext>
            </a:extLst>
          </p:cNvPr>
          <p:cNvSpPr txBox="1">
            <a:spLocks/>
          </p:cNvSpPr>
          <p:nvPr/>
        </p:nvSpPr>
        <p:spPr>
          <a:xfrm>
            <a:off x="326366" y="246048"/>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44.Gantt Chart (Period One)</a:t>
            </a:r>
          </a:p>
        </p:txBody>
      </p:sp>
      <p:cxnSp>
        <p:nvCxnSpPr>
          <p:cNvPr id="14" name="Straight Connector 13">
            <a:extLst>
              <a:ext uri="{FF2B5EF4-FFF2-40B4-BE49-F238E27FC236}">
                <a16:creationId xmlns:a16="http://schemas.microsoft.com/office/drawing/2014/main" id="{B8019720-B98C-FCDC-55B4-F067E872AAC8}"/>
              </a:ext>
              <a:ext uri="{C183D7F6-B498-43B3-948B-1728B52AA6E4}">
                <adec:decorative xmlns:adec="http://schemas.microsoft.com/office/drawing/2017/decorative" val="1"/>
              </a:ext>
            </a:extLst>
          </p:cNvPr>
          <p:cNvCxnSpPr>
            <a:cxnSpLocks/>
          </p:cNvCxnSpPr>
          <p:nvPr/>
        </p:nvCxnSpPr>
        <p:spPr>
          <a:xfrm flipV="1">
            <a:off x="0" y="514271"/>
            <a:ext cx="3631721" cy="8627"/>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6E0CC084-6D4E-0486-B182-C30AA0997351}"/>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156DCD98-E6CD-F25C-25A3-94D505AF704B}"/>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5C04324F-B1A3-7F54-67C6-332D0B3AD593}"/>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DC664138-5666-77DB-0BB4-6FB65DA993F1}"/>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5" name="Picture 4">
            <a:extLst>
              <a:ext uri="{FF2B5EF4-FFF2-40B4-BE49-F238E27FC236}">
                <a16:creationId xmlns:a16="http://schemas.microsoft.com/office/drawing/2014/main" id="{A9728350-EB49-5148-DF56-6FC98D3AE26B}"/>
              </a:ext>
            </a:extLst>
          </p:cNvPr>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1630393" y="983554"/>
            <a:ext cx="7848947" cy="5601919"/>
          </a:xfrm>
          <a:prstGeom prst="rect">
            <a:avLst/>
          </a:prstGeom>
          <a:noFill/>
          <a:ln>
            <a:noFill/>
          </a:ln>
        </p:spPr>
      </p:pic>
    </p:spTree>
    <p:extLst>
      <p:ext uri="{BB962C8B-B14F-4D97-AF65-F5344CB8AC3E}">
        <p14:creationId xmlns:p14="http://schemas.microsoft.com/office/powerpoint/2010/main" val="15734288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426B5-051C-6AEB-5CD4-F536C0674936}"/>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85E2C801-8C50-9F08-407D-5420345AD75F}"/>
              </a:ext>
              <a:ext uri="{C183D7F6-B498-43B3-948B-1728B52AA6E4}">
                <adec:decorative xmlns:adec="http://schemas.microsoft.com/office/drawing/2017/decorative" val="1"/>
              </a:ext>
            </a:extLst>
          </p:cNvPr>
          <p:cNvCxnSpPr>
            <a:cxnSpLocks/>
          </p:cNvCxnSpPr>
          <p:nvPr/>
        </p:nvCxnSpPr>
        <p:spPr>
          <a:xfrm>
            <a:off x="8686800" y="514271"/>
            <a:ext cx="3505200"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54B7EE9-C5CF-C0D6-2895-414B8047A6AA}"/>
              </a:ext>
            </a:extLst>
          </p:cNvPr>
          <p:cNvSpPr txBox="1">
            <a:spLocks/>
          </p:cNvSpPr>
          <p:nvPr/>
        </p:nvSpPr>
        <p:spPr>
          <a:xfrm>
            <a:off x="326366" y="246048"/>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45. Gantt Chart (Period Two)</a:t>
            </a:r>
          </a:p>
        </p:txBody>
      </p:sp>
      <p:cxnSp>
        <p:nvCxnSpPr>
          <p:cNvPr id="14" name="Straight Connector 13">
            <a:extLst>
              <a:ext uri="{FF2B5EF4-FFF2-40B4-BE49-F238E27FC236}">
                <a16:creationId xmlns:a16="http://schemas.microsoft.com/office/drawing/2014/main" id="{5CB1626B-4FE4-D721-8FBA-E25C3F7B0C2D}"/>
              </a:ext>
              <a:ext uri="{C183D7F6-B498-43B3-948B-1728B52AA6E4}">
                <adec:decorative xmlns:adec="http://schemas.microsoft.com/office/drawing/2017/decorative" val="1"/>
              </a:ext>
            </a:extLst>
          </p:cNvPr>
          <p:cNvCxnSpPr>
            <a:cxnSpLocks/>
          </p:cNvCxnSpPr>
          <p:nvPr/>
        </p:nvCxnSpPr>
        <p:spPr>
          <a:xfrm>
            <a:off x="0" y="522898"/>
            <a:ext cx="377837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22D62B20-65E5-BF09-6946-96AF27484DE9}"/>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4170380D-EF99-3D39-8269-457388813AD3}"/>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67D0A11B-2B04-EEB9-6B17-1FD0ECBEE702}"/>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1F1045F8-3D2A-0B2E-A92A-940C1B776472}"/>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2" name="Picture 1">
            <a:extLst>
              <a:ext uri="{FF2B5EF4-FFF2-40B4-BE49-F238E27FC236}">
                <a16:creationId xmlns:a16="http://schemas.microsoft.com/office/drawing/2014/main" id="{00F10A31-800D-12DD-C7D1-578570F5446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1984075" y="1213502"/>
            <a:ext cx="9128960" cy="4639324"/>
          </a:xfrm>
          <a:prstGeom prst="rect">
            <a:avLst/>
          </a:prstGeom>
          <a:noFill/>
          <a:ln>
            <a:noFill/>
          </a:ln>
        </p:spPr>
      </p:pic>
    </p:spTree>
    <p:extLst>
      <p:ext uri="{BB962C8B-B14F-4D97-AF65-F5344CB8AC3E}">
        <p14:creationId xmlns:p14="http://schemas.microsoft.com/office/powerpoint/2010/main" val="14192955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D6BC6-0ADD-A546-DC5D-46D8A13FF07C}"/>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EF64CE9-DBF7-F300-8D56-F26AB0D0F8B3}"/>
              </a:ext>
              <a:ext uri="{C183D7F6-B498-43B3-948B-1728B52AA6E4}">
                <adec:decorative xmlns:adec="http://schemas.microsoft.com/office/drawing/2017/decorative" val="1"/>
              </a:ext>
            </a:extLst>
          </p:cNvPr>
          <p:cNvCxnSpPr>
            <a:cxnSpLocks/>
          </p:cNvCxnSpPr>
          <p:nvPr/>
        </p:nvCxnSpPr>
        <p:spPr>
          <a:xfrm>
            <a:off x="8082951" y="514271"/>
            <a:ext cx="4109049"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919F96D7-FA67-CF48-B7B0-87078521554F}"/>
              </a:ext>
            </a:extLst>
          </p:cNvPr>
          <p:cNvSpPr txBox="1">
            <a:spLocks/>
          </p:cNvSpPr>
          <p:nvPr/>
        </p:nvSpPr>
        <p:spPr>
          <a:xfrm>
            <a:off x="326366" y="246048"/>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46. Client Feedback</a:t>
            </a:r>
          </a:p>
        </p:txBody>
      </p:sp>
      <p:cxnSp>
        <p:nvCxnSpPr>
          <p:cNvPr id="14" name="Straight Connector 13">
            <a:extLst>
              <a:ext uri="{FF2B5EF4-FFF2-40B4-BE49-F238E27FC236}">
                <a16:creationId xmlns:a16="http://schemas.microsoft.com/office/drawing/2014/main" id="{96454773-AB5E-1674-0A32-AF2A5D78D9C7}"/>
              </a:ext>
              <a:ext uri="{C183D7F6-B498-43B3-948B-1728B52AA6E4}">
                <adec:decorative xmlns:adec="http://schemas.microsoft.com/office/drawing/2017/decorative" val="1"/>
              </a:ext>
            </a:extLst>
          </p:cNvPr>
          <p:cNvCxnSpPr>
            <a:cxnSpLocks/>
          </p:cNvCxnSpPr>
          <p:nvPr/>
        </p:nvCxnSpPr>
        <p:spPr>
          <a:xfrm>
            <a:off x="0" y="522898"/>
            <a:ext cx="4235570"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31" name="Group 30" descr="Icons of bar chart and line graph.">
            <a:extLst>
              <a:ext uri="{FF2B5EF4-FFF2-40B4-BE49-F238E27FC236}">
                <a16:creationId xmlns:a16="http://schemas.microsoft.com/office/drawing/2014/main" id="{77B59088-2620-02B5-EC01-E3C6B8C94215}"/>
              </a:ext>
            </a:extLst>
          </p:cNvPr>
          <p:cNvGrpSpPr/>
          <p:nvPr/>
        </p:nvGrpSpPr>
        <p:grpSpPr>
          <a:xfrm>
            <a:off x="4715661" y="1810536"/>
            <a:ext cx="347679" cy="347679"/>
            <a:chOff x="4319588" y="2492375"/>
            <a:chExt cx="287338" cy="287338"/>
          </a:xfrm>
          <a:solidFill>
            <a:schemeClr val="bg1"/>
          </a:solidFill>
        </p:grpSpPr>
        <p:sp>
          <p:nvSpPr>
            <p:cNvPr id="32" name="Freeform 372">
              <a:extLst>
                <a:ext uri="{FF2B5EF4-FFF2-40B4-BE49-F238E27FC236}">
                  <a16:creationId xmlns:a16="http://schemas.microsoft.com/office/drawing/2014/main" id="{9CF6FE76-F333-31AA-D580-5338698467AF}"/>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373">
              <a:extLst>
                <a:ext uri="{FF2B5EF4-FFF2-40B4-BE49-F238E27FC236}">
                  <a16:creationId xmlns:a16="http://schemas.microsoft.com/office/drawing/2014/main" id="{F8C8DF20-B52A-1F10-76EB-5891431E2F5F}"/>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4" name="Freeform 1676" descr="Icon of check box. ">
            <a:extLst>
              <a:ext uri="{FF2B5EF4-FFF2-40B4-BE49-F238E27FC236}">
                <a16:creationId xmlns:a16="http://schemas.microsoft.com/office/drawing/2014/main" id="{C47D7EC0-301F-1E6E-21C2-D1E3354B22E5}"/>
              </a:ext>
            </a:extLst>
          </p:cNvPr>
          <p:cNvSpPr>
            <a:spLocks noEditPoints="1"/>
          </p:cNvSpPr>
          <p:nvPr/>
        </p:nvSpPr>
        <p:spPr bwMode="auto">
          <a:xfrm>
            <a:off x="7129621" y="1811496"/>
            <a:ext cx="345758" cy="345758"/>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 name="TextBox 2">
            <a:extLst>
              <a:ext uri="{FF2B5EF4-FFF2-40B4-BE49-F238E27FC236}">
                <a16:creationId xmlns:a16="http://schemas.microsoft.com/office/drawing/2014/main" id="{D1C9D18D-657C-B445-F4CE-E8BECCB0E42B}"/>
              </a:ext>
            </a:extLst>
          </p:cNvPr>
          <p:cNvSpPr txBox="1"/>
          <p:nvPr/>
        </p:nvSpPr>
        <p:spPr>
          <a:xfrm>
            <a:off x="181154" y="1305341"/>
            <a:ext cx="11880011" cy="3170099"/>
          </a:xfrm>
          <a:prstGeom prst="rect">
            <a:avLst/>
          </a:prstGeom>
          <a:noFill/>
        </p:spPr>
        <p:txBody>
          <a:bodyPr wrap="square">
            <a:spAutoFit/>
          </a:bodyPr>
          <a:lstStyle/>
          <a:p>
            <a:r>
              <a:rPr lang="en-NZ" sz="2000" dirty="0"/>
              <a:t>The client provided overall positive feedback on our project, mentioning that it looked well-developed and visually appealing. However, there was a slight misunderstanding regarding the testing process of the data, specifically about the testing of data accuracy over a 12-month period.</a:t>
            </a:r>
          </a:p>
          <a:p>
            <a:endParaRPr lang="en-NZ" sz="2000" dirty="0"/>
          </a:p>
          <a:p>
            <a:r>
              <a:rPr lang="en-NZ" sz="2000" dirty="0"/>
              <a:t>We had conducted accuracy testing for the 12-month dataset, but we were unable to fully understand the client’s specific question during the discussion, which caused some minor confusion at that point.</a:t>
            </a:r>
          </a:p>
          <a:p>
            <a:endParaRPr lang="en-NZ" sz="2000" dirty="0"/>
          </a:p>
          <a:p>
            <a:r>
              <a:rPr lang="en-NZ" sz="2000" dirty="0"/>
              <a:t>From the client’s perspective, the dashboard design was impressive and effectively presented the information. She suggested modifying the layout and patterns of the visualization pages on the summary page to enhance clarity and visual flow</a:t>
            </a:r>
            <a:r>
              <a:rPr lang="en-NZ" sz="2000"/>
              <a:t>. </a:t>
            </a:r>
            <a:endParaRPr lang="en-NZ" sz="2000" dirty="0">
              <a:highlight>
                <a:srgbClr val="FFFF00"/>
              </a:highlight>
            </a:endParaRPr>
          </a:p>
        </p:txBody>
      </p:sp>
    </p:spTree>
    <p:extLst>
      <p:ext uri="{BB962C8B-B14F-4D97-AF65-F5344CB8AC3E}">
        <p14:creationId xmlns:p14="http://schemas.microsoft.com/office/powerpoint/2010/main" val="25831922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anchor="ctr">
            <a:spAutoFit/>
          </a:bodyPr>
          <a:lstStyle/>
          <a:p>
            <a:r>
              <a:rPr lang="en-US" sz="7200" b="1" dirty="0">
                <a:solidFill>
                  <a:schemeClr val="bg1"/>
                </a:solidFill>
              </a:rPr>
              <a:t>Thank You</a:t>
            </a:r>
            <a:endParaRPr lang="en-US" sz="7200" dirty="0">
              <a:solidFill>
                <a:schemeClr val="accent4"/>
              </a:solidFill>
            </a:endParaRPr>
          </a:p>
        </p:txBody>
      </p:sp>
      <p:sp>
        <p:nvSpPr>
          <p:cNvPr id="5" name="TextBox 4">
            <a:extLst>
              <a:ext uri="{FF2B5EF4-FFF2-40B4-BE49-F238E27FC236}">
                <a16:creationId xmlns:a16="http://schemas.microsoft.com/office/drawing/2014/main" id="{5A24EE47-95D1-596E-2635-A32D88FCCDC4}"/>
              </a:ext>
            </a:extLst>
          </p:cNvPr>
          <p:cNvSpPr txBox="1"/>
          <p:nvPr/>
        </p:nvSpPr>
        <p:spPr>
          <a:xfrm>
            <a:off x="4573398" y="5537767"/>
            <a:ext cx="6094602" cy="369332"/>
          </a:xfrm>
          <a:prstGeom prst="rect">
            <a:avLst/>
          </a:prstGeom>
          <a:noFill/>
        </p:spPr>
        <p:txBody>
          <a:bodyPr wrap="square">
            <a:spAutoFit/>
          </a:bodyPr>
          <a:lstStyle/>
          <a:p>
            <a:pPr>
              <a:buNone/>
            </a:pPr>
            <a:r>
              <a:rPr lang="en-US" i="1" dirty="0">
                <a:solidFill>
                  <a:schemeClr val="bg1"/>
                </a:solidFill>
              </a:rPr>
              <a:t>Team LSG - FutureTourism.LSG</a:t>
            </a:r>
            <a:endParaRPr lang="en-US" dirty="0">
              <a:solidFill>
                <a:schemeClr val="bg1"/>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Project analysis, from 24Slides</Template>
  <TotalTime>0</TotalTime>
  <Words>2731</Words>
  <Application>Microsoft Office PowerPoint</Application>
  <PresentationFormat>Widescreen</PresentationFormat>
  <Paragraphs>264</Paragraphs>
  <Slides>47</Slides>
  <Notes>46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5" baseType="lpstr">
      <vt:lpstr>Arial</vt:lpstr>
      <vt:lpstr>Calibri</vt:lpstr>
      <vt:lpstr>Century Gothic</vt:lpstr>
      <vt:lpstr>Segoe UI</vt:lpstr>
      <vt:lpstr>Segoe UI Light</vt:lpstr>
      <vt:lpstr>Segoe UI Light (Body)</vt:lpstr>
      <vt:lpstr>Office Theme</vt:lpstr>
      <vt:lpstr>Packager Shell Object</vt:lpstr>
      <vt:lpstr>Final Panel Presentation  New Zealand Tourism Forecasting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35. Live demonstration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2025-10-28T14:08:20Z</dcterms:created>
  <dcterms:modified xsi:type="dcterms:W3CDTF">2025-10-28T14:19:30Z</dcterms:modified>
</cp:coreProperties>
</file>